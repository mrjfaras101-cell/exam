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>
                <a:latin typeface="Cairo"/>
                <a:cs typeface="Cairo"/>
              </a:rPr>
              <a:t>الزمن: عرض 10 د — تنفيذ 55 د — بلا عمل منزلي ثقيل.</a:t>
            </a:r>
          </a:p>
          <a:p>
            <a:pPr algn="r" rtl="1"/>
            <a:r>
              <a:rPr sz="1400">
                <a:latin typeface="Cairo"/>
                <a:cs typeface="Cairo"/>
              </a:rPr>
              <a:t>الهدف: موقع المشروع يعمل على جهاز كل متدرّب + معرفة مكان ملف بطاقته.</a:t>
            </a:r>
          </a:p>
          <a:p>
            <a:pPr algn="r" rtl="1"/>
            <a:r>
              <a:rPr sz="1400">
                <a:latin typeface="Cairo"/>
                <a:cs typeface="Cairo"/>
              </a:rPr>
              <a:t>نقاط التركيز: (1) clone وليس Download ZIP — وجود مجلد .git. (2) تشغيل خادم محلي لأن المتصفح يمنع قراءة JSON من file://. (3) قراءة git log --graph كخريطة للفريق.</a:t>
            </a:r>
          </a:p>
          <a:p>
            <a:pPr algn="r" rtl="1"/>
            <a:r>
              <a:rPr sz="1400">
                <a:latin typeface="Cairo"/>
                <a:cs typeface="Cairo"/>
              </a:rPr>
              <a:t>اسأل: «أي ملف عدّله كل الأعضاء؟ ولماذا هو مُولَّد آلياً؟» — تمهيد مباشر لحل التعارض في الجلسة الخامسة.</a:t>
            </a:r>
          </a:p>
          <a:p>
            <a:pPr algn="r" rtl="1"/>
            <a:r>
              <a:rPr sz="1400">
                <a:latin typeface="Cairo"/>
                <a:cs typeface="Cairo"/>
              </a:rPr>
              <a:t>الأخطاء المتوقعة: مسار خاطئ في git add (اقرأ رسالة git: pathspec) — أخبرهم أن الرسالة هي الطبيب لا العدو.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22000"/>
            <a:ext cx="12192119" cy="936000"/>
          </a:xfrm>
          <a:prstGeom prst="rect">
            <a:avLst/>
          </a:prstGeom>
          <a:solidFill>
            <a:srgbClr val="E86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655999"/>
            <a:ext cx="1111211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0">
                <a:solidFill>
                  <a:srgbClr val="9FC0E6"/>
                </a:solidFill>
                <a:latin typeface="Cairo"/>
                <a:cs typeface="Cairo"/>
              </a:rPr>
              <a:t>ورشة GIT وGITHUB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376000"/>
            <a:ext cx="11112119" cy="151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iro"/>
                <a:cs typeface="Cairo"/>
              </a:rPr>
              <a:t>استنساخ مستودع الفريق واستكشافه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031999"/>
            <a:ext cx="11112119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800" b="0">
                <a:solidFill>
                  <a:srgbClr val="D3E2F2"/>
                </a:solidFill>
                <a:latin typeface="Segoe UI"/>
                <a:cs typeface="Segoe UI"/>
              </a:rPr>
              <a:t>Session 02 · Clone &amp; 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066000"/>
            <a:ext cx="11112119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iro"/>
                <a:cs typeface="Cairo"/>
              </a:rPr>
              <a:t>ورشة Git وGitHub · الجلسة 02 — الاستنساخ والاستكشاف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مشروعنا: دليل فريق الصف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2/11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موقع ويب بسيط: بطاقة تعريفية لكل طالب في الفريق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HTML + CSS + JavaScript + ملفات بيانات JSON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لا يحتاج تثبيت أي برنامج — يعمل بالمتصفح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لماذا اخترناه؟ لأنه يعلّم التعاون بلا مشاكل بيئات التطوير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المشروع مُصمَّم بحيث </a:t>
            </a:r>
            <a:r>
              <a:rPr sz="1500" b="1">
                <a:solidFill>
                  <a:srgbClr val="0A5D5C"/>
                </a:solidFill>
                <a:latin typeface="Cairo"/>
                <a:cs typeface="Cairo"/>
              </a:rPr>
              <a:t>لا يتعارض</a:t>
            </a: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 عمل الطلاب: كل طالب له ملف بطاقة خاص باسمه.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بنية المشروع — أين بطاقتي؟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3/11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9584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598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class-team-hub/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├── index.html              الصفحة الرئيسية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├── css/style.css           التنسيقات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├── js/app.js               يقرأ البيانات ويبني البطاقات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├── data/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│   ├── site-config.json    إعدادات الموقع المشتركة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│   ├── members-index.json  فهرس أسماء البطاقات (مُولَّد آلياً)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│   └── members/            بطاقة واحدة لكل طالب ← ملفك هنا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├── sandbox/                مختبر تمارين التعارض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├── tools/build-index.mjs   إعادة توليد الفهرس</a:t>
            </a:r>
          </a:p>
          <a:p>
            <a:pPr algn="l" rtl="0">
              <a:lnSpc>
                <a:spcPct val="115000"/>
              </a:lnSpc>
            </a:pPr>
            <a:r>
              <a:rPr sz="1200">
                <a:solidFill>
                  <a:srgbClr val="E6EDF7"/>
                </a:solidFill>
                <a:latin typeface="Consolas"/>
              </a:rPr>
              <a:t>└── tests/validate-members.mjs   فحص صحة البطاقات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1 — استنسخ المستودع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4/11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91905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55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cd ~/projects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clone https://github.com/&lt;org&gt;/class-team-hub.git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Cloning into 'class-team-hub'...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remote: Enumerating objects: 87, done.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Unpacking objects: 100% (87/87), done.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cd class-team-hub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remote -v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origin  https://github.com/&lt;org&gt;/class-team-hub.git (fetch)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origin  https://github.com/&lt;org&gt;/class-team-hub.git (push)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410705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421505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لا تستخدم زر Download ZIP! النسخة المضغوطة بلا مجلد </a:t>
            </a:r>
            <a:r>
              <a:rPr sz="1500" b="0">
                <a:solidFill>
                  <a:srgbClr val="8A5A06"/>
                </a:solidFill>
                <a:latin typeface="Consolas"/>
                <a:cs typeface="Consolas"/>
              </a:rPr>
              <a:t>.git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، فلن تستطيع الالتزام ولا الرفع، وستظهر لك </a:t>
            </a:r>
            <a:r>
              <a:rPr sz="1500" b="0">
                <a:solidFill>
                  <a:srgbClr val="8A5A06"/>
                </a:solidFill>
                <a:latin typeface="Consolas"/>
                <a:cs typeface="Consolas"/>
              </a:rPr>
              <a:t>fatal: not a git repository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ماذا يجلب الاستنساخ فعلاً؟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5/11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83515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كل الملفات، وليس الملفات الحالية فقط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كل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الالتزامات في التاريخ (يمكنك رؤية ما فعله زملاؤك قبل أسبوع)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كل الفروع الموجودة على الخادم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الربط بالخادم باسم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origin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الإعدادات في مجلد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.git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— لا تحذفه ولا تعدّله يدوياً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02315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13115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اختبار سريع: </a:t>
            </a:r>
            <a:r>
              <a:rPr sz="1500" b="0">
                <a:solidFill>
                  <a:srgbClr val="1C4B86"/>
                </a:solidFill>
                <a:latin typeface="Consolas"/>
                <a:cs typeface="Consolas"/>
              </a:rPr>
              <a:t>ls -a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— إن لم ترَ </a:t>
            </a:r>
            <a:r>
              <a:rPr sz="1500" b="0">
                <a:solidFill>
                  <a:srgbClr val="1C4B86"/>
                </a:solidFill>
                <a:latin typeface="Consolas"/>
                <a:cs typeface="Consolas"/>
              </a:rPr>
              <a:t>.git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فأنت لست داخل مستودع.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مسارات البيانات: من ملفك إلى الشاشة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6/11</a:t>
            </a:r>
          </a:p>
        </p:txBody>
      </p:sp>
      <p:pic>
        <p:nvPicPr>
          <p:cNvPr id="5" name="Picture 4" descr="data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11112119" cy="3404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3 — شغّل الموقع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7/11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15133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79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الطريقة الأسرع (موصى بها):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cd ~/projects/class-team-hub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python3 -m http.server 8000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Serving HTTP on 0.0.0.0 port 8000 ...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افتح المتصفح على:  http://localhost:8000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D8CA3"/>
                </a:solidFill>
                <a:latin typeface="Consolas"/>
              </a:rPr>
              <a:t># للإيقاف: Ctrl+C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339335"/>
            <a:ext cx="11112119" cy="110109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الملف الذي يعطي العنوان والوصف: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data/site-config.json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الملف الذي يعطي قائمة البطاقات: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data/members-index.json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الطريقة البديلة: Live Server من VS Code (يمين على index.html)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4548425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99" y="4656425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فتح الملف بالنقر المزدوج (file://) قد يفشل لأن المتصفح يمنع قراءة ملفات JSON محلياً لأسباب أمنية. الحل: خادم محلي كما أعلاه.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5 — اقرأ تاريخ فريقك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8/11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360802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324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log --oneline --graph --all --decorate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*   a1b2c3d (HEAD -&gt; main, origin/main) Merge pull request #7 from nour/card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|\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| * 9f8e7d6 feat(members): add card for nour-dev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|/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*   5e6f7a8 Merge pull request #6 from ali-h/card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|\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| * 1a2b3c4 feat(members): add card for ali-h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|/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* 8de1e7a chore: initial commit of class-team-hub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shortlog -sn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4  nour-dev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3  ali-h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  1  Workshop Instructor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5 — من عدّل ماذا؟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9/11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13836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02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log -p -- data/members/leen-docs.json     # تاريخ ملف واحد بالتفصيل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blame data/members/leen-docs.json         # من كتب كل سطر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f9e8d7c9 (leen-docs 2026-10-06 11:02:40) 1) {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f9e8d7c9 (leen-docs 2026-10-06 11:02:40) 2)   "fullName": "لينا حدّاد",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571620"/>
            <a:ext cx="11112119" cy="110109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سؤال: أي ملف عدّله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كل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الأعضاء؟ ولماذا؟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الجواب: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data/members-index.json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— لأنه يسجّل قائمة البطاقات، فيتغير مع كل بطاقة جديدة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وهذا سبب جعله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مُولَّداً آلياً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: لا نكتبه بيدنا ولا نحلّ تعارضه يدوياً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378071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7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99" y="388871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4B2683"/>
                </a:solidFill>
                <a:latin typeface="Cairo"/>
                <a:cs typeface="Cairo"/>
              </a:rPr>
              <a:t>القاعدة القادمة: الملف المُولَّد يُعاد توليده — </a:t>
            </a:r>
            <a:r>
              <a:rPr sz="1500" b="0">
                <a:solidFill>
                  <a:srgbClr val="4B2683"/>
                </a:solidFill>
                <a:latin typeface="Consolas"/>
                <a:cs typeface="Consolas"/>
              </a:rPr>
              <a:t>node tools/build-index.mjs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خطأ شائع اليوم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10/11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87181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5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add data/members/mycards.json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F08C7A"/>
                </a:solidFill>
                <a:latin typeface="Consolas"/>
              </a:rPr>
              <a:t>fatal: pathspec 'data/members/mycards.json' did not match any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05981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0">
                <a:solidFill>
                  <a:srgbClr val="22303F"/>
                </a:solidFill>
                <a:latin typeface="Cairo"/>
                <a:cs typeface="Cairo"/>
              </a:rPr>
              <a:t>هذه الرسالة تعني أن </a:t>
            </a:r>
            <a:r>
              <a:rPr sz="1800" b="1">
                <a:solidFill>
                  <a:srgbClr val="22303F"/>
                </a:solidFill>
                <a:latin typeface="Cairo"/>
                <a:cs typeface="Cairo"/>
              </a:rPr>
              <a:t>الملف غير موجود</a:t>
            </a:r>
            <a:r>
              <a:rPr sz="1800" b="0">
                <a:solidFill>
                  <a:srgbClr val="22303F"/>
                </a:solidFill>
                <a:latin typeface="Cairo"/>
                <a:cs typeface="Cairo"/>
              </a:rPr>
              <a:t> في المكان الذي كتبته. الأسباب الشائعة: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528709"/>
            <a:ext cx="11112119" cy="110109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خطأ مطبعي في الاسم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لم تحفظ الملف فعلاً في المحرر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أنت في مجلد مختلف — افحص بـ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pwd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و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ls data/members/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737799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99" y="3845799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git يخبرك بالحقيقة: لا يوجد ملف بهذا المسار. اقرأ الرسالة قبل أن تسأل أحداً.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قبل الجلسة القادمة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02 — الاستنساخ والاستكشاف · 11/11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الموقع يعمل على جهازك ولديك دليل (صورة أو خادم يعمل)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تعرف مكان ملف بطاقتك: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data/members/&lt;username&gt;.json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قرأت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log --graph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وحدّدت أكثر الأعضاء مساهمة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الجلسة القادمة: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فرعك الأول وطلب السحب الأول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— ستضيف بطاقتك فعلاً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B6244"/>
                </a:solidFill>
                <a:latin typeface="Cairo"/>
                <a:cs typeface="Cairo"/>
              </a:rPr>
              <a:t>تذكّر: لا عمل على main. كل تعديل — ولو سطراً — يبدأ من فرع خاص بك.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