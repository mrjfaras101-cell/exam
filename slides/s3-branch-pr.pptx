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>
                <a:latin typeface="Cairo"/>
                <a:cs typeface="Cairo"/>
              </a:rPr>
              <a:t>الزمن: عرض 10 د — تنفيذ موجّه 60 د — مراجعة ثنائية 20 د.</a:t>
            </a:r>
          </a:p>
          <a:p>
            <a:pPr algn="r" rtl="1"/>
            <a:r>
              <a:rPr sz="1400">
                <a:latin typeface="Cairo"/>
                <a:cs typeface="Cairo"/>
              </a:rPr>
              <a:t>الهدف: فرع لكل متدرّب + بطاقة JSON + التزام مهني + طلب سحب مفتوح + مراجعة زميل مكتوبة.</a:t>
            </a:r>
          </a:p>
          <a:p>
            <a:pPr algn="r" rtl="1"/>
            <a:r>
              <a:rPr sz="1400">
                <a:latin typeface="Cairo"/>
                <a:cs typeface="Cairo"/>
              </a:rPr>
              <a:t>نقاط التركيز: (1) لا عمل على main — والمراجعة جزء من الدرجة لا إجراء شكلي. (2) تسمية الفرع feature/&lt;username&gt;-card. (3) صيغة رسالة الالتزام (feat/fix/docs + نطاق + وصف). (4) إعادة توليد الفهرس قبل الالتزام.</a:t>
            </a:r>
          </a:p>
          <a:p>
            <a:pPr algn="r" rtl="1"/>
            <a:r>
              <a:rPr sz="1400">
                <a:latin typeface="Cairo"/>
                <a:cs typeface="Cairo"/>
              </a:rPr>
              <a:t>قسّم الفصل نصفين للتبادل: كل متدرّب يراجع طلب زميله بملاحظة محددة، ويجب أن يردّ صاحب الطلب بتصحيح أو شرح.</a:t>
            </a:r>
          </a:p>
          <a:p>
            <a:pPr algn="r" rtl="1"/>
            <a:r>
              <a:rPr sz="1400">
                <a:latin typeface="Cairo"/>
                <a:cs typeface="Cairo"/>
              </a:rPr>
              <a:t>إن ظهرت دائرة صفراء على طلب سحب: علّمهم ألا يطلبوا مراجعة قبل أن يصبح الفحص أخضر.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22000"/>
            <a:ext cx="12192119" cy="936000"/>
          </a:xfrm>
          <a:prstGeom prst="rect">
            <a:avLst/>
          </a:prstGeom>
          <a:solidFill>
            <a:srgbClr val="E86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655999"/>
            <a:ext cx="11112119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0">
                <a:solidFill>
                  <a:srgbClr val="9FC0E6"/>
                </a:solidFill>
                <a:latin typeface="Cairo"/>
                <a:cs typeface="Cairo"/>
              </a:rPr>
              <a:t>ورشة GIT وGITHUB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376000"/>
            <a:ext cx="11112119" cy="151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iro"/>
                <a:cs typeface="Cairo"/>
              </a:rPr>
              <a:t>فرعي الأول وطلب السحب الأول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4031999"/>
            <a:ext cx="11112119" cy="57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800" b="0">
                <a:solidFill>
                  <a:srgbClr val="D3E2F2"/>
                </a:solidFill>
                <a:latin typeface="Segoe UI"/>
                <a:cs typeface="Segoe UI"/>
              </a:rPr>
              <a:t>Session 03 · Branch &amp; Pull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6066000"/>
            <a:ext cx="11112119" cy="503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Cairo"/>
                <a:cs typeface="Cairo"/>
              </a:rPr>
              <a:t>ورشة Git وGitHub · الجلسة 03 — الفرع وطلب السحب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لماذا نمنع العمل على main؟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03 — الفرع وطلب السحب · 2/14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1112119" cy="146812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main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هي النسخة التي يعتمد عليها الجميع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العمل المباشر عليها يعني: لا مراجعة، ولا فرصة للتصحيح، وانهيار المشروع عند أول خطأ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الفرع يمنحك مساحة آمنة للتجربة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طلب السحب يمنح الفريق فرصة الفحص قبل الدمج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265612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276412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8C1D17"/>
                </a:solidFill>
                <a:latin typeface="Cairo"/>
                <a:cs typeface="Cairo"/>
              </a:rPr>
              <a:t>مخالفة اليوم: الدفع المباشر إلى main. حماية الفرع سترفضه، وستخصم درجات التقييم — لأن المراجعة مهارة مقصودة هنا لا إجراء شكلي.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رحلة طلب السحب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03 — الفرع وطلب السحب · 3/14</a:t>
            </a:r>
          </a:p>
        </p:txBody>
      </p:sp>
      <p:pic>
        <p:nvPicPr>
          <p:cNvPr id="5" name="Picture 4" descr="pr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080000"/>
            <a:ext cx="11112119" cy="29466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دورة العمل في الفريق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03 — الفرع وطلب السحب · 4/14</a:t>
            </a:r>
          </a:p>
        </p:txBody>
      </p:sp>
      <p:pic>
        <p:nvPicPr>
          <p:cNvPr id="5" name="Picture 4" descr="branch-me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080000"/>
            <a:ext cx="11112119" cy="45363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2 — أنشئ فرعك باسم صحيح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03 — الفرع وطلب السحب · 5/14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291905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255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switch main &amp;&amp; git pull --ff-only      # ← لا تبدأ قبل هذه الخطوة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switch -c feature/&lt;username&gt;-card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Switched to a new branch 'feature/omar-qa-card'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branch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main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* feature/omar-qa-card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branch --show-current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feature/omar-qa-card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0000" y="4107050"/>
          <a:ext cx="11112119" cy="151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4039"/>
                <a:gridCol w="3704039"/>
                <a:gridCol w="3704041"/>
              </a:tblGrid>
              <a:tr h="3799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✔ اسم صحيح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✘ اسم خطأ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السبب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79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feature/omar-qa-card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my-branch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لا يدل على صاحبه ولا موضوعه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9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docs/leen-readme-faq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test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غامض ومكرر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79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fix/sara-search-filter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sara/new/final/2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مسارات وتسمية فوضوية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3 — اكتب بطاقتك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03 — الفرع وطلب السحب · 6/14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615905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255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cp data/members/00-template.json data/members/&lt;username&gt;.json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803905"/>
            <a:ext cx="11112119" cy="2663145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983905"/>
            <a:ext cx="10752119" cy="2303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{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"fullName": "عمر القاسم",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"github": "omar-qa",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"role": "مختبر QA",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"favoriteCommand": "git log --oneline --graph --all",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"message": "أبحث عن الأخطاء قبل أن يجدها المستخدم، وأثبت كل إصلاح بمخرجات واضحة.",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"tags": ["Testing", "JavaScript"],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"joinedAt": "2026-10-06"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457505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999" y="468305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8C1D17"/>
                </a:solidFill>
                <a:latin typeface="Cairo"/>
                <a:cs typeface="Cairo"/>
              </a:rPr>
              <a:t>ممنوع: بريد إلكتروني، رقم هاتف، عنوان، كلمة مرور. الفحص التلقائي يرفض الملف، وقد يُطلب منك حذف الالتزام وإعادة العمل.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3 — ولّد الفهرس ثم افحص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03 — الفرع وطلب السحب · 7/14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2663145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2303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node tools/build-index.mjs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[build-index] ✔ تم توليد الفهرس: 6 بطاقة.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 • ali-h                 مطوّر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 • nour-dev              مصمّم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 • omar-qa               مختبر QA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node tests/validate-members.mjs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=== فحص بطاقات الأعضاء / Validating member cards ===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--- النتيجة / Result: 6 بطاقة، 0 خطأ، 0 تحذير ---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3851145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999" y="3959145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8A5A06"/>
                </a:solidFill>
                <a:latin typeface="Cairo"/>
                <a:cs typeface="Cairo"/>
              </a:rPr>
              <a:t>إن ظهر خطأ: اقرأ </a:t>
            </a:r>
            <a:r>
              <a:rPr sz="1500" b="1">
                <a:solidFill>
                  <a:srgbClr val="8A5A06"/>
                </a:solidFill>
                <a:latin typeface="Cairo"/>
                <a:cs typeface="Cairo"/>
              </a:rPr>
              <a:t>أول سطر خطأ فقط</a:t>
            </a:r>
            <a:r>
              <a:rPr sz="1500" b="0">
                <a:solidFill>
                  <a:srgbClr val="8A5A06"/>
                </a:solidFill>
                <a:latin typeface="Cairo"/>
                <a:cs typeface="Cairo"/>
              </a:rPr>
              <a:t>، أصلحه، ثم أعد التشغيل. لا تُكمل قبل أن تصبح النتيجة </a:t>
            </a:r>
            <a:r>
              <a:rPr sz="1500" b="0">
                <a:solidFill>
                  <a:srgbClr val="8A5A06"/>
                </a:solidFill>
                <a:latin typeface="Consolas"/>
                <a:cs typeface="Consolas"/>
              </a:rPr>
              <a:t>0 خطأ</a:t>
            </a:r>
            <a:r>
              <a:rPr sz="1500" b="0">
                <a:solidFill>
                  <a:srgbClr val="8A5A06"/>
                </a:solidFill>
                <a:latin typeface="Cairo"/>
                <a:cs typeface="Cairo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4 — التزم برسالة مهنية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03 — الفرع وطلب السحب · 8/14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291905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255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status -sb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D8CA3"/>
                </a:solidFill>
                <a:latin typeface="Consolas"/>
              </a:rPr>
              <a:t>## feature/omar-qa-card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M data/members-bundle.js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M data/members-index.json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?? data/members/omar-qa.json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add data/members/omar-qa.json data/members-index.json data/members-bundle.js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commit -m "feat(members): add card for omar-qa"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[feature/omar-qa-card 89f5cff] feat(members): add card for omar-qa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3 files changed, 25 insertions(+), 2 deletions(-)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0000" y="4107050"/>
          <a:ext cx="11112119" cy="151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6059"/>
                <a:gridCol w="5556060"/>
              </a:tblGrid>
              <a:tr h="3799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✔ رسالة مقبولة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✘ رسالة مرفوضة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79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feat(members): add card for omar-qa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9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fix(ui): correct card alignment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changes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79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docs(readme): add FAQ section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final / done / asdf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4 — ارفع فرعك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03 — الفرع وطلب السحب · 9/14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24072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204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push -u origin feature/omar-qa-card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remote: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remote: Create a pull request for 'feature/omar-qa-card' on GitHub by visiting: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remote:      https://github.com/&lt;org&gt;/class-team-hub/pull/new/feature/omar-qa-card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remote: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To https://github.com/&lt;org&gt;/class-team-hub.git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* [new branch]      feature/omar-qa-card -&gt; feature/omar-qa-card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branch 'feature/omar-qa-card' set up to track 'origin/feature/omar-qa-card'.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595240"/>
            <a:ext cx="11112119" cy="73406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الرابط الذي ظهر في المخرجات هو بوابة طلب السحب — لا تنسخه، بل افتحه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-u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تختصر عليك: بعدها يكفي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git push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و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git pull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بلا أسماء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5 — افتح طلب السحب واملأه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03 — الفرع وطلب السحب · 10/14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1112119" cy="183515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العنوان بنفس صيغة رسالة الالتزام: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feat(members): add card for omar-qa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ماذا تغيّر: ملف بطاقتي + إعادة توليد الفهرس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الأدلة: الصق مخرجات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node tests/validate-members.mjs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الربط: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Closes #12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ليُغلق طلبك المهمة تلقائياً عند الدمج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Reviewers: اختر زميلاً · Assignees: نفسك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302315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F7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313115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4B2683"/>
                </a:solidFill>
                <a:latin typeface="Cairo"/>
                <a:cs typeface="Cairo"/>
              </a:rPr>
              <a:t>لا تضغط Merge بنفسك. الدمج بعد موافقة المراجع — هذا هو الفرق بين «رفعت كوداً» و«عملت في فريق».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كيف تكتب مراجعة يستفيد منها زميلك؟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03 — الفرع وطلب السحب · 11/14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5448059" cy="15977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04059" y="1080000"/>
            <a:ext cx="5448059" cy="15977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188000"/>
            <a:ext cx="5232059" cy="159776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500" b="0">
                <a:solidFill>
                  <a:srgbClr val="22303F"/>
                </a:solidFill>
                <a:latin typeface="Cairo"/>
                <a:cs typeface="Cairo"/>
              </a:rPr>
              <a:t>• «الحقل </a:t>
            </a:r>
            <a:r>
              <a:rPr sz="1500" b="0">
                <a:solidFill>
                  <a:srgbClr val="22303F"/>
                </a:solidFill>
                <a:latin typeface="Consolas"/>
                <a:cs typeface="Consolas"/>
              </a:rPr>
              <a:t>favoriteCommand</a:t>
            </a:r>
            <a:r>
              <a:rPr sz="1500" b="0">
                <a:solidFill>
                  <a:srgbClr val="22303F"/>
                </a:solidFill>
                <a:latin typeface="Cairo"/>
                <a:cs typeface="Cairo"/>
              </a:rPr>
              <a:t> لا يبدأ بـ git، هل تصححه؟»</a:t>
            </a:r>
          </a:p>
          <a:p>
            <a:pPr algn="r" rtl="1">
              <a:lnSpc>
                <a:spcPct val="130000"/>
              </a:lnSpc>
            </a:pPr>
            <a:r>
              <a:rPr sz="1500" b="0">
                <a:solidFill>
                  <a:srgbClr val="22303F"/>
                </a:solidFill>
                <a:latin typeface="Cairo"/>
                <a:cs typeface="Cairo"/>
              </a:rPr>
              <a:t>• «هل تريد إضافة وسم JavaScript أيضاً؟»</a:t>
            </a:r>
          </a:p>
          <a:p>
            <a:pPr algn="r" rtl="1">
              <a:lnSpc>
                <a:spcPct val="130000"/>
              </a:lnSpc>
            </a:pPr>
            <a:r>
              <a:rPr sz="1500" b="0">
                <a:solidFill>
                  <a:srgbClr val="22303F"/>
                </a:solidFill>
                <a:latin typeface="Cairo"/>
                <a:cs typeface="Cairo"/>
              </a:rPr>
              <a:t>• «ممتاز، البطاقة تظهر بشكل نظيف ✔»</a:t>
            </a:r>
          </a:p>
          <a:p>
            <a:pPr algn="r" rtl="1">
              <a:lnSpc>
                <a:spcPct val="130000"/>
              </a:lnSpc>
            </a:pPr>
            <a:r>
              <a:rPr sz="1500" b="0">
                <a:solidFill>
                  <a:srgbClr val="22303F"/>
                </a:solidFill>
                <a:latin typeface="Cairo"/>
                <a:cs typeface="Cairo"/>
              </a:rPr>
              <a:t>• اقتراح تحسين واحد واضح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12059" y="1188000"/>
            <a:ext cx="5232059" cy="159776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500" b="0">
                <a:solidFill>
                  <a:srgbClr val="22303F"/>
                </a:solidFill>
                <a:latin typeface="Cairo"/>
                <a:cs typeface="Cairo"/>
              </a:rPr>
              <a:t>• «كودك خاطئ»</a:t>
            </a:r>
          </a:p>
          <a:p>
            <a:pPr algn="r" rtl="1">
              <a:lnSpc>
                <a:spcPct val="130000"/>
              </a:lnSpc>
            </a:pPr>
            <a:r>
              <a:rPr sz="1500" b="0">
                <a:solidFill>
                  <a:srgbClr val="22303F"/>
                </a:solidFill>
                <a:latin typeface="Cairo"/>
                <a:cs typeface="Cairo"/>
              </a:rPr>
              <a:t>• «افعله بشكل صحيح»</a:t>
            </a:r>
          </a:p>
          <a:p>
            <a:pPr algn="r" rtl="1">
              <a:lnSpc>
                <a:spcPct val="130000"/>
              </a:lnSpc>
            </a:pPr>
            <a:r>
              <a:rPr sz="1500" b="0">
                <a:solidFill>
                  <a:srgbClr val="22303F"/>
                </a:solidFill>
                <a:latin typeface="Cairo"/>
                <a:cs typeface="Cairo"/>
              </a:rPr>
              <a:t>• «موافق» بلا تفصيل</a:t>
            </a:r>
          </a:p>
          <a:p>
            <a:pPr algn="r" rtl="1">
              <a:lnSpc>
                <a:spcPct val="130000"/>
              </a:lnSpc>
            </a:pPr>
            <a:r>
              <a:rPr sz="1500" b="0">
                <a:solidFill>
                  <a:srgbClr val="22303F"/>
                </a:solidFill>
                <a:latin typeface="Cairo"/>
                <a:cs typeface="Cairo"/>
              </a:rPr>
              <a:t>• أي تعليق على الشخص لا على العمل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6 — استجب للملاحظات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03 — الفرع وطلب السحب · 12/14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2663145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2303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D8CA3"/>
                </a:solidFill>
                <a:latin typeface="Consolas"/>
              </a:rPr>
              <a:t># المراجع طلب إضافة وسم JavaScript: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nano data/members/omar-qa.json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node tests/validate-members.mjs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--- النتيجة / Result: 6 بطاقة، 0 خطأ، 0 تحذير ---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add data/members/omar-qa.json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commit -m "fix(members): add JavaScript tag per review feedback"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push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 89f5cff..3c7d9e1  feature/omar-qa-card -&gt; feature/omar-qa-card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3851145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6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999" y="3959145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0A5D5C"/>
                </a:solidFill>
                <a:latin typeface="Cairo"/>
                <a:cs typeface="Cairo"/>
              </a:rPr>
              <a:t>لاحظ: </a:t>
            </a:r>
            <a:r>
              <a:rPr sz="1500" b="1">
                <a:solidFill>
                  <a:srgbClr val="0A5D5C"/>
                </a:solidFill>
                <a:latin typeface="Cairo"/>
                <a:cs typeface="Cairo"/>
              </a:rPr>
              <a:t>نفس طلب السحب</a:t>
            </a:r>
            <a:r>
              <a:rPr sz="1500" b="0">
                <a:solidFill>
                  <a:srgbClr val="0A5D5C"/>
                </a:solidFill>
                <a:latin typeface="Cairo"/>
                <a:cs typeface="Cairo"/>
              </a:rPr>
              <a:t> تحدّث تلقائياً — لا تفتح طلباً جديداً. الطلب يعرض كل ما على فرعك حتى لحظة الدمج.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أخطاء متوقعة اليوم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03 — الفرع وطلب السحب · 13/14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080000"/>
          <a:ext cx="11112119" cy="2243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6059"/>
                <a:gridCol w="5556060"/>
              </a:tblGrid>
              <a:tr h="3739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الخطأ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الحل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73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fatal: not a git repository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أنت خارج مجلد المشروع — افحص pwd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fatal: invalid reference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اسم الفرع خطأ، أو تحاول الانتقال إلى فرع غير موجود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73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! [rejected] non-fast-forward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فرعك قديم: git pull --rebase ثم push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nothing to commit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نسيت git add قبل الالتزام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73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لم يظهر الرابط على GitHub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نسيت git push أو أخطأت اسم الفرع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قبل الجلسة القادمة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03 — الفرع وطلب السحب · 14/14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1112119" cy="146812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بطاقتك على فرع مرفوع، وطلب سحب مفتوح بوصف كامل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راجعت طلب سحب زميل بملاحظة مكتوبة محددة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ردّيت على ملاحظة وصلتك (بتصحيح أو شرح مقنع)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الجلسة القادمة: </a:t>
            </a:r>
            <a:r>
              <a:rPr sz="1700" b="1">
                <a:solidFill>
                  <a:srgbClr val="22303F"/>
                </a:solidFill>
                <a:latin typeface="Cairo"/>
                <a:cs typeface="Cairo"/>
              </a:rPr>
              <a:t>مزامنة الفريق والدمج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— كيف ترى تعديلات زملائك وكيف تعمل الاستراتيجيات الثلاث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265612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276412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0B6244"/>
                </a:solidFill>
                <a:latin typeface="Cairo"/>
                <a:cs typeface="Cairo"/>
              </a:rPr>
              <a:t>سؤال للتفكير: زر الدمج على GitHub فيه ثلاثة خيارات (Merge / Squash / Rebase). أيّها تختار ولماذا؟ ستجيب عملياً في الجلسة القادمة.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