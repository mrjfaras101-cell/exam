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>
                <a:latin typeface="Cairo"/>
                <a:cs typeface="Cairo"/>
              </a:rPr>
              <a:t>الزمن: عرض 20 د — فحص مباشر 30 د — تجربة كسر/إصلاح 30 د — إصدار 20 د. (وحدة اختيارية لمن أنهى الأوراق الخمس بـ85+).</a:t>
            </a:r>
          </a:p>
          <a:p>
            <a:pPr algn="r" rtl="1"/>
            <a:r>
              <a:rPr sz="1400">
                <a:latin typeface="Cairo"/>
                <a:cs typeface="Cairo"/>
              </a:rPr>
              <a:t>الهدف: طلب سحب أحمر يُصلَح حتى يصبح أخضر + حماية فرع main + إصدار موسوم وموثّق.</a:t>
            </a:r>
          </a:p>
          <a:p>
            <a:pPr algn="r" rtl="1"/>
            <a:r>
              <a:rPr sz="1400">
                <a:latin typeface="Cairo"/>
                <a:cs typeface="Cairo"/>
              </a:rPr>
              <a:t>نقاط التركيز: (1) الفرق بين حكم الجودة (CI) وقواعد الوصول (protection). (2) اقرأ validate.yml واسأل الأسئلة الأربعة. (3) اكسر المشروع عن قصد — لا تثق بفحص لم تجرّبه على مشروع مكسور. (4) الوسم المعنون vs الخفيف، وخريطة SemVer. (5) ضعف الفحص القديم: من يكتشفه يعرضه على الفصل (+5 درجات).</a:t>
            </a:r>
          </a:p>
          <a:p>
            <a:pPr algn="r" rtl="1"/>
            <a:r>
              <a:rPr sz="1400">
                <a:latin typeface="Cairo"/>
                <a:cs typeface="Cairo"/>
              </a:rPr>
              <a:t>اجعل المتدرّب يقرأ مخرجات الفحص الفاشل بصوت عالٍ ويشرح السبب — الفهم أهم من الإصلاح.</a:t>
            </a:r>
          </a:p>
          <a:p>
            <a:pPr algn="r" rtl="1"/>
            <a:r>
              <a:rPr sz="1400">
                <a:latin typeface="Cairo"/>
                <a:cs typeface="Cairo"/>
              </a:rPr>
              <a:t>الختام الوظيفي: صِغ معهم جملة المقابلة: «بنيت مشروعاً بـGit Flow، مع CI على كل PR، وحماية main، وإصدار معنون».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22000"/>
            <a:ext cx="12192119" cy="936000"/>
          </a:xfrm>
          <a:prstGeom prst="rect">
            <a:avLst/>
          </a:prstGeom>
          <a:solidFill>
            <a:srgbClr val="E86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655999"/>
            <a:ext cx="1111211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0">
                <a:solidFill>
                  <a:srgbClr val="9FC0E6"/>
                </a:solidFill>
                <a:latin typeface="Cairo"/>
                <a:cs typeface="Cairo"/>
              </a:rPr>
              <a:t>وحدة متقدمة اختيارية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376000"/>
            <a:ext cx="11112119" cy="151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iro"/>
                <a:cs typeface="Cairo"/>
              </a:rPr>
              <a:t>الأتمتة الاحترافية: CI وحماية الفروع والإصدارات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031999"/>
            <a:ext cx="11112119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800" b="0">
                <a:solidFill>
                  <a:srgbClr val="D3E2F2"/>
                </a:solidFill>
                <a:latin typeface="Segoe UI"/>
                <a:cs typeface="Segoe UI"/>
              </a:rPr>
              <a:t>Advanced Unit 06 · Automation, Protection &amp; Releases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066000"/>
            <a:ext cx="11112119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iro"/>
                <a:cs typeface="Cairo"/>
              </a:rPr>
              <a:t>ورشة Git وGitHub · الوحدة 06 — الأتمتة الاحترافية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أين نحن؟ وما الجديد اليوم؟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2/18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22021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المشروع أصبح يعمل ومنشوراً: نعرفه الآن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يرفض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العمل السيئ تلقائياً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اليوم نضيف ثلاث قدرات يطلبها كل فريق محترف: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فحص آلي عند كل طلب سحب (GitHub Actions)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قواعد تمنع الوقوع في الخطأ (حماية الفرع + CODEOWNERS)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إصدار رسمي موثّق مع سجل تغييرات (SemVer + CHANGELOG)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المخرجات: طلب سحب أحمر يُصلَح حتى يصبح أخضر، ووسم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v1.0.0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حقيقي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339018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349818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هذه الوحدة اختيارية، لكنها </a:t>
            </a:r>
            <a:r>
              <a:rPr sz="1500" b="1">
                <a:solidFill>
                  <a:srgbClr val="1C4B86"/>
                </a:solidFill>
                <a:latin typeface="Cairo"/>
                <a:cs typeface="Cairo"/>
              </a:rPr>
              <a:t>الأقرب لبيئة العمل الحقيقية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 في البرنامج كله.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المشكلة التي يحلّها الفحص الآلي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3/18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أمس: كان المراجع البشري هو خط الدفاع الوحيد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المراجع يسهو، والوقت قصير، والملفات كثيرة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الحل: مراجع آلي صبور لا يمل، يفحص كل طلب سحب بنفس المعايير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لكن الفحص الآلي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لا يغني عن المراجعة البشرية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— بل يحرّرها للتفكير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الفحص الآلي يقدّم </a:t>
            </a:r>
            <a:r>
              <a:rPr sz="1500" b="1">
                <a:solidFill>
                  <a:srgbClr val="8A5A06"/>
                </a:solidFill>
                <a:latin typeface="Cairo"/>
                <a:cs typeface="Cairo"/>
              </a:rPr>
              <a:t>حكماً</a:t>
            </a: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 (نجاح/فشل)، وحماية الفرع تفرض </a:t>
            </a:r>
            <a:r>
              <a:rPr sz="1500" b="1">
                <a:solidFill>
                  <a:srgbClr val="8A5A06"/>
                </a:solidFill>
                <a:latin typeface="Cairo"/>
                <a:cs typeface="Cairo"/>
              </a:rPr>
              <a:t>قواعد وصول</a:t>
            </a: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. كلاهما ضروري، ولا أحدهما بديل عن الآخر.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مسار الفحص: من الدفع إلى القرار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4/18</a:t>
            </a:r>
          </a:p>
        </p:txBody>
      </p:sp>
      <p:pic>
        <p:nvPicPr>
          <p:cNvPr id="5" name="Picture 4" descr="ci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80000"/>
            <a:ext cx="11112119" cy="47611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1 — ملف سير العمل (validate.yml)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5/18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46907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43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D8CA3"/>
                </a:solidFill>
                <a:latin typeface="Consolas"/>
              </a:rPr>
              <a:t># .github/workflows/validate.yml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name: validate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on: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pull_request: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branches: [ main ]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push: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branches: [ main ]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concurrency: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group: validate-${{ github.ref }}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cancel-in-progress: true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jobs: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checks: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runs-on: ubuntu-latest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steps: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  - uses: actions/checkout@v4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  - uses: actions/setup-node@v4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    with: { node-version: '20' }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  - run: node tools/build-index.mjs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  - run: node tests/validate-members.mjs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  - run: git diff --exit-code -- data/members-index.json data/members-bundle.js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1 — اقرأه واسأل الأسئلة الأربعة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6/18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متى يعمل؟ (عند كل طلب سحب نحو main، وعند كل دفع إلى main)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أين يعمل؟ (على خادم GitHub في بيئة نظيفة ubuntu-latest، لا على جهازك)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ما الخطوات الثلاث؟ (توليد الفهرس ← فحص البطاقات ← مطابقة الملفات المولَّدة)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لماذا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concurrency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مع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cancel-in-progress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؟ (ليلغي الفحص القديم عند دفعة جديدة، فلا ننتظر نتائج قديمة)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سؤال حاسم: ماذا تكشف الخطوة الأخيرة </a:t>
            </a:r>
            <a:r>
              <a:rPr sz="1500" b="0">
                <a:solidFill>
                  <a:srgbClr val="1C4B86"/>
                </a:solidFill>
                <a:latin typeface="Consolas"/>
                <a:cs typeface="Consolas"/>
              </a:rPr>
              <a:t>git diff --exit-code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؟ ← نسيان إعادة توليد الفهرس بعد إضافة بطاقة — أشهر خطأ في هذا المشروع.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2 — جرّب الفحص محلياً أولاً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7/18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15133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79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node tools/ci-local.mjs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▸ الفهرس مُحدَّث / index up to date … ✔ نجح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▸ بطاقات الأعضاء صحيحة / member cards valid … ✔ نجح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▸ لا علامات تعارض / no conflict markers … ✔ نجح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───────────────────────────────────────────────────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✔ كل الفحوص نجحت — آمن للرفع (git push) / All checks passed.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339335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3447335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عادة احترافية: شغّل الفحص محلياً </a:t>
            </a:r>
            <a:r>
              <a:rPr sz="1500" b="1">
                <a:solidFill>
                  <a:srgbClr val="0A5D5C"/>
                </a:solidFill>
                <a:latin typeface="Cairo"/>
                <a:cs typeface="Cairo"/>
              </a:rPr>
              <a:t>قبل</a:t>
            </a: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 الدفع. لا ترسل عملاً ليقوم غيرك باكتشاف أخطائه.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3 — فخّان ينتظرانك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8/18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339149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30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D8CA3"/>
                </a:solidFill>
                <a:latin typeface="Consolas"/>
              </a:rPr>
              <a:t># الفخ الأول: بطاقة تحمل وسم CHANGEME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node tests/validate-members.mjs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F08C7A"/>
                </a:solidFill>
                <a:latin typeface="Consolas"/>
              </a:rPr>
              <a:t>✘ خطأ: يبدو أن البطاقة نسخة غير معدَّلة (الوسم CHANGEME موجود ولم يُستبدل).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الملف: data/members/omar-qa.json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D8CA3"/>
                </a:solidFill>
                <a:latin typeface="Consolas"/>
              </a:rPr>
              <a:t># الفخ الثاني: نسيت إعادة توليد الفهرس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diff --exit-code -- data/members-index.json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diff --git a/data/members-index.json b/data/members-index.json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--- a/data/members-index.json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+++ b/data/members-index.json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@@ -5,6 +5,7 @@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 { "username": "leen-docs", ... }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+    { "username": "omar-qa", ... }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exit status 1        ← الفحص سيفشل حتى تصلح هذا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579490"/>
            <a:ext cx="11112119" cy="36703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المطلوب: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خرّب المشروع عن قصد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في فرع تجريبي، وشاهد الفحص يفشل، ثم أصلحه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3 — شبكة إضافية: التحقق الضعيف يكذب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9/18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15133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79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الفحص القديم (غير دقيق):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grep -rInE "^(&lt;&lt;&lt;&lt;&lt;&lt;&lt;|&gt;&gt;&gt;&gt;&gt;&gt;&gt;|=======)$" --exclude-dir=.git .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ثلاث ثغرات، جرّبها على فرع تجريبي: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 1) نطاق محدود بامتدادات → تجاهل sandbox/team-slogan.txt  ← الأخطر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 2) يشترط العلامة وحدها في السطر؛ والحقيقية &lt;&lt;&lt;&lt;&lt;&lt;&lt; HEAD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 3) إيجابيات كاذبة على سطر ======= فاصل في التوثيق بعلامات دمج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339335"/>
            <a:ext cx="11112119" cy="861599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3447335"/>
            <a:ext cx="10860120" cy="6815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C1D17"/>
                </a:solidFill>
                <a:latin typeface="Cairo"/>
                <a:cs typeface="Cairo"/>
              </a:rPr>
              <a:t>لذلك المهمة الأخيرة في سجل التغييرات تكتب الفحص الصحيح:</a:t>
            </a:r>
          </a:p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C1D17"/>
                </a:solidFill>
                <a:latin typeface="Consolas"/>
                <a:cs typeface="Consolas"/>
              </a:rPr>
              <a:t>grep -rInE "^(&lt;{7}|={7}|&gt;{7})( |$)" --exclude-dir=.git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308934"/>
            <a:ext cx="11112119" cy="36703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من يكتشف ضعف الفحص القديم ويوثّقه يحصل على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5 درجات إضافية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4 — أصلح حتى يصبح أخضر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10/18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66314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30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node tools/build-index.mjs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[build-index] ✔ تم توليد الفهرس: 7 بطاقة.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node tests/validate-members.mjs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--- النتيجة / Result: 7 بطاقة، 0 خطأ، 0 تحذير ---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add data/members-index.json data/members-bundle.js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commit -m "chore(data): regenerate members index after adding card"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851145"/>
            <a:ext cx="11112119" cy="7340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راقب تبويب Actions في طلب السحب: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أصفر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(يعمل) ←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أخضر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✔ (نجح)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القاعدة: لا تدمج ولا تطلب مراجعة وأنت ترى دائرة صفراء أو حمراء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5 — حماية الفرع: القواعد الخمس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11/18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1112119" cy="224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039"/>
                <a:gridCol w="3704039"/>
                <a:gridCol w="3704041"/>
              </a:tblGrid>
              <a:tr h="3739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القاعدة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القيمة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لماذا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منع الدفع المباشر إلى 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 تجاوز للمراجعة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طلب موافقة واحدة على الأقل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1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مراجعة بشرية حقيقية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فحص مطلوب قبل الدمج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validate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 دمج بفحص فاشل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منع القوة (force push)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✔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 حذف لتاريخ الفريق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منع حذف الفرع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 فقدان مفاجئ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0000" y="343170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7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353970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4B2683"/>
                </a:solidFill>
                <a:latin typeface="Cairo"/>
                <a:cs typeface="Cairo"/>
              </a:rPr>
              <a:t>حماية الفرع ليست ثقة بالآخرين، بل تقليل لاحتمال الخطأ البشري — بما فيه خطؤك أنت.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CODEOWNERS — من يجب أن يوافق؟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12/18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15133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79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.github/CODEOWNERS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الترتيب مهم: الأخص سطراً يفوز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/data/members/site-config.json   @instructor-team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/data/members/                   @instructor-team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/tests/                          @instructor-team @qa-lead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/docs/                           @docs-team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*                                @instructor-team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339335"/>
            <a:ext cx="11112119" cy="7340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مالك الكود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لا يُستدعى تلقائياً للدمج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، بل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يُطلب تلقائياً كمراجع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— والموافقة شرط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لاحظ: سطر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/data/members/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يحمي بطاقات الطلاب، لا يسمح بتعديل بيانات عضوية أساسية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6 — الإصدار: الوسم والفحص والتحقق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13/18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74188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38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switch main &amp;&amp; git pull --ff-only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tag -a v1.0.0 -m "الإصدار الأول: بطاقات الفريق + CI + صفحات النشر"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Tagger: Workshop Instructor &lt;instructor@example.com&gt;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Date:   Tue Oct 6 12:05:41 2026 +0300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show v1.0.0 --stat --no-patch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commit 0b1c2d3...   ← يشير إلى عقدة الدمج الرئيسية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push origin v1.0.0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To https://github.com/&lt;org&gt;/class-team-hub.git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* [new tag]   v1.0.0 -&gt; v1.0.0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929885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4037885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A5A06"/>
                </a:solidFill>
                <a:latin typeface="Consolas"/>
                <a:cs typeface="Consolas"/>
              </a:rPr>
              <a:t>git ls-remote --tags origin</a:t>
            </a: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 هو </a:t>
            </a:r>
            <a:r>
              <a:rPr sz="1500" b="1">
                <a:solidFill>
                  <a:srgbClr val="8A5A06"/>
                </a:solidFill>
                <a:latin typeface="Cairo"/>
                <a:cs typeface="Cairo"/>
              </a:rPr>
              <a:t>الدليل الوحيد</a:t>
            </a: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 على أن الوسم على الخادم. وسم محلي لا يظهر لأحد ولا يمكن لأحد استخدامه.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الوسم العادي مقابل الوسم المعنون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14/18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1112119" cy="188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039"/>
                <a:gridCol w="3704039"/>
                <a:gridCol w="3704041"/>
              </a:tblGrid>
              <a:tr h="37635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خفيف (lightweight)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معنون (annotated)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الأمر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tag v1.0.0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tag -a v1.0.0 -m "..."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من وسم؟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 تسجيل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اسم ووقت ورسالة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الشائع في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علامات محلية سريعة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الإصدارات الرسمية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الاستخدام مع Releases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غير مناسب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✔ الموصى به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3069750"/>
            <a:ext cx="11112119" cy="36703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أوامر الفحص: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tag -l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·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tag -n1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·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show v1.0.0 --stat --no-patch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·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ls-remote --tags origin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خريطة SemVer — أي رقم يزيد؟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15/18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1112119" cy="151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039"/>
                <a:gridCol w="3704039"/>
                <a:gridCol w="3704041"/>
              </a:tblGrid>
              <a:tr h="3799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نوع التغيير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مثال من مشروعنا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الرقم الذي يزيد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كسر التوافق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تغيير بنية بطاقة موجودة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MAJOR (2.0.0)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ميزة جديدة متوافقة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صفحة «الأسئلة الشائعة»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MINOR (1.1.0)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إصلاح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تصحيح محاذاة البطاقة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PATCH (1.0.1)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0000" y="2707800"/>
            <a:ext cx="11112119" cy="163952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887800"/>
            <a:ext cx="10752119" cy="127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tag -l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v1.0.0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tag -n1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v1.0.0          الإصدار الأول: بطاقات الفريق +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455325"/>
            <a:ext cx="11112119" cy="36703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القاعدة: القمة (MAJOR) الأكثر خطورة على المستخدمين — لا ترفعها إلا عند كسر توافق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الشريط الجانبي: الإصدارات (Releases) وسجل التغييرات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16/18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722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36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7FD1A8"/>
                </a:solidFill>
                <a:latin typeface="Consolas"/>
              </a:rPr>
              <a:t>$ git add CHANGELOG.md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7FD1A8"/>
                </a:solidFill>
                <a:latin typeface="Consolas"/>
              </a:rPr>
              <a:t>$ git commit -m "docs(changelog): add release notes for v1.0.0"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7FD1A8"/>
                </a:solidFill>
                <a:latin typeface="Consolas"/>
              </a:rPr>
              <a:t>$ git push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GitHub → Releases → Draft a new release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  Tag:          v1.0.0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  Target:       main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  Title:        v1.0.0 — أول إصدار مستقر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  Description:  ملخص التغييرات من CHANGELOG.md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  → Publish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910200"/>
            <a:ext cx="11112119" cy="163952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4090200"/>
            <a:ext cx="10752119" cy="127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من CHANGELOG.md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## [1.0.0] - 2026-10-06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### Added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- بطاقات تعريفية لكل أعضاء الفريق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- فحص آلي عند كل طلب سحب (validate.yml)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657725"/>
            <a:ext cx="11112119" cy="36703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الفرق: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الوسم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علامة في التاريخ،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الإصدار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صفحة موثّقة بملفات نهائية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فكرة الاحتراف — تجربة الفرق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17/18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5448059" cy="15977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04059" y="1080000"/>
            <a:ext cx="5448059" cy="15977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188000"/>
            <a:ext cx="5232059" cy="15977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«أجرتنا تعلّم كلاماً، وهذه الوحدة أظهرت لي ما يحدث فعلاً عند كل دفع.»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«رأيت أول مرة فحصاً يفشل بسبب ملف لم أُولّده — درس لا يُنسى.»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«صفحة الإصدار على GitHub تجعل مشروعنا يبدو حقيقياً.»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2059" y="1188000"/>
            <a:ext cx="5232059" cy="15977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</a:t>
            </a:r>
            <a:r>
              <a:rPr sz="1500" b="1">
                <a:solidFill>
                  <a:srgbClr val="22303F"/>
                </a:solidFill>
                <a:latin typeface="Cairo"/>
                <a:cs typeface="Cairo"/>
              </a:rPr>
              <a:t>سؤال الحماية:</a:t>
            </a: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 ما الفرق بين «فحص مطلوب» و«حماية الفرع»؟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الجواب: الفحص يعطي حكماً على الجودة؛ الحماية تفرض قواعد الوصول والدمج.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</a:t>
            </a:r>
            <a:r>
              <a:rPr sz="1500" b="1">
                <a:solidFill>
                  <a:srgbClr val="22303F"/>
                </a:solidFill>
                <a:latin typeface="Cairo"/>
                <a:cs typeface="Cairo"/>
              </a:rPr>
              <a:t>سؤال الإصدار:</a:t>
            </a: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 ما الذي يجعل الإصدار رسمياً؟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الجواب: وسم معنون مرفوع + ملفات نهائية + سجل تغييرات.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78576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99" y="289376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B6244"/>
                </a:solidFill>
                <a:latin typeface="Cairo"/>
                <a:cs typeface="Cairo"/>
              </a:rPr>
              <a:t>إتقان الأربعة — CI + الحماية + CODEOWNERS + الإصدار — هو الفرق بين «أعرف Git» و«جاهز للعمل في فريق هندسي».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ختام الوحدة والمشروع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الوحدة 06 — الأتمتة الاحترافية (اختيارية) · 18/18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المشروع الآن: فحص آلي يحمي الجودة، قواعد تحمي الفرع، وإصدار موثّق يحمل رقمه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هذا ملف أعمال حقيقي يمكنك عرضه في السيرة الذاتية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طريقتك في الحديث عنه في المقابلة: «بنيت مشروعاً يستخدم Git Flow، مع CI على كل طلب سحب، وحماية فرع main، وإصدار معنون»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شكراً لكم — البرنامج ينتهي هنا، لكن المستودع يبقى لكم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الخطوة التالية بعد الورشة: طبّق نفس العملية على مشروعك الشخصي، وشارك الرابط معي للمراجعة.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