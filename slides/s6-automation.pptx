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algn="r" rtl="1"/>
            <a:r>
              <a:rPr sz="1400">
                <a:latin typeface="Cairo"/>
                <a:cs typeface="Cairo"/>
              </a:rPr>
              <a:t>الزمن: عرض 20 د — فحص مباشر 30 د — تجربة كسر/إصلاح 30 د — إصدار 20 د. (وحدة اختيارية لمن أنهى الأوراق الخمس بـ85+).</a:t>
            </a:r>
          </a:p>
          <a:p>
            <a:pPr algn="r" rtl="1"/>
            <a:r>
              <a:rPr sz="1400">
                <a:latin typeface="Cairo"/>
                <a:cs typeface="Cairo"/>
              </a:rPr>
              <a:t>الهدف: طلب سحب أحمر يُصلَح حتى يصبح أخضر + حماية فرع main + إصدار موسوم وموثّق.</a:t>
            </a:r>
          </a:p>
          <a:p>
            <a:pPr algn="r" rtl="1"/>
            <a:r>
              <a:rPr sz="1400">
                <a:latin typeface="Cairo"/>
                <a:cs typeface="Cairo"/>
              </a:rPr>
              <a:t>نقاط التركيز: (1) الفرق بين حكم الجودة (CI) وقواعد الوصول (protection). (2) اقرأ validate.yml واسأل الأسئلة الأربعة. (3) اكسر المشروع عن قصد — لا تثق بفحص لم تجرّبه على مشروع مكسور. (4) الوسم المعنون vs الخفيف، وخريطة SemVer. (5) ضعف الفحص القديم: من يكتشفه يعرضه على الفصل (+5 درجات).</a:t>
            </a:r>
          </a:p>
          <a:p>
            <a:pPr algn="r" rtl="1"/>
            <a:r>
              <a:rPr sz="1400">
                <a:latin typeface="Cairo"/>
                <a:cs typeface="Cairo"/>
              </a:rPr>
              <a:t>اجعل المتدرّب يقرأ مخرجات الفحص الفاشل بصوت عالٍ ويشرح السبب — الفهم أهم من الإصلاح.</a:t>
            </a:r>
          </a:p>
          <a:p>
            <a:pPr algn="r" rtl="1"/>
            <a:r>
              <a:rPr sz="1400">
                <a:latin typeface="Cairo"/>
                <a:cs typeface="Cairo"/>
              </a:rPr>
              <a:t>الختام الوظيفي: صِغ معهم جملة المقابلة: «بنيت مشروعاً بـGit Flow، مع CI على كل PR، وحماية main، وإصدار معنون».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22000"/>
            <a:ext cx="12192119" cy="936000"/>
          </a:xfrm>
          <a:prstGeom prst="rect">
            <a:avLst/>
          </a:prstGeom>
          <a:solidFill>
            <a:srgbClr val="E862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0000" y="1655999"/>
            <a:ext cx="11112119" cy="79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500" b="0">
                <a:solidFill>
                  <a:srgbClr val="9FC0E6"/>
                </a:solidFill>
                <a:latin typeface="Cairo"/>
                <a:cs typeface="Cairo"/>
              </a:rPr>
              <a:t>وحدة متقدمة اختيارية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2376000"/>
            <a:ext cx="11112119" cy="151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Cairo"/>
                <a:cs typeface="Cairo"/>
              </a:rPr>
              <a:t>الأتمتة الاحترافية: CI وحماية الفروع والإصدارات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4031999"/>
            <a:ext cx="11112119" cy="57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800" b="0">
                <a:solidFill>
                  <a:srgbClr val="D3E2F2"/>
                </a:solidFill>
                <a:latin typeface="Segoe UI"/>
                <a:cs typeface="Segoe UI"/>
              </a:rPr>
              <a:t>Advanced Unit 06 · Automation, Protection &amp; Releases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6066000"/>
            <a:ext cx="11112119" cy="503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300" b="0">
                <a:solidFill>
                  <a:srgbClr val="FFFFFF"/>
                </a:solidFill>
                <a:latin typeface="Cairo"/>
                <a:cs typeface="Cairo"/>
              </a:rPr>
              <a:t>ورشة Git وGitHub · الوحدة 06 — الأتمتة الاحترافية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أين نحن؟ وما الجديد اليوم؟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الوحدة 06 — الأتمتة الاحترافية (اختيارية) · 2/18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1080000"/>
            <a:ext cx="11112119" cy="220218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المشروع أصبح يعمل ومنشوراً: نعرفه الآن </a:t>
            </a:r>
            <a:r>
              <a:rPr sz="1700" b="1">
                <a:solidFill>
                  <a:srgbClr val="22303F"/>
                </a:solidFill>
                <a:latin typeface="Cairo"/>
                <a:cs typeface="Cairo"/>
              </a:rPr>
              <a:t>يرفض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العمل السيئ تلقائياً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اليوم نضيف ثلاث قدرات يطلبها كل فريق محترف: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فحص آلي عند كل طلب سحب (GitHub Actions)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قواعد تمنع الوقوع في الخطأ (حماية الفرع + CODEOWNERS)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إصدار رسمي موثّق مع سجل تغييرات (SemVer + CHANGELOG)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المخرجات: طلب سحب أحمر يُصلَح حتى يصبح أخضر، ووسم 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v1.0.0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حقيقي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0000" y="3390180"/>
            <a:ext cx="11112119" cy="556799"/>
          </a:xfrm>
          <a:prstGeom prst="roundRect">
            <a:avLst>
              <a:gd name="adj" fmla="val 6000"/>
            </a:avLst>
          </a:prstGeom>
          <a:solidFill>
            <a:srgbClr val="EEF4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5999" y="3498180"/>
            <a:ext cx="10860120" cy="3767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1C4B86"/>
                </a:solidFill>
                <a:latin typeface="Cairo"/>
                <a:cs typeface="Cairo"/>
              </a:rPr>
              <a:t>هذه الوحدة اختيارية، لكنها </a:t>
            </a:r>
            <a:r>
              <a:rPr sz="1500" b="1">
                <a:solidFill>
                  <a:srgbClr val="1C4B86"/>
                </a:solidFill>
                <a:latin typeface="Cairo"/>
                <a:cs typeface="Cairo"/>
              </a:rPr>
              <a:t>الأقرب لبيئة العمل الحقيقية</a:t>
            </a:r>
            <a:r>
              <a:rPr sz="1500" b="0">
                <a:solidFill>
                  <a:srgbClr val="1C4B86"/>
                </a:solidFill>
                <a:latin typeface="Cairo"/>
                <a:cs typeface="Cairo"/>
              </a:rPr>
              <a:t> في البرنامج كله.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المشكلة التي يحلّها الفحص الآلي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الوحدة 06 — الأتمتة الاحترافية (اختيارية) · 3/18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1080000"/>
            <a:ext cx="11112119" cy="146812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أمس: كان المراجع البشري هو خط الدفاع الوحيد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المراجع يسهو، والوقت قصير، والملفات كثيرة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الحل: مراجع آلي صبور لا يمل، يفحص كل طلب سحب بنفس المعايير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لكن الفحص الآلي </a:t>
            </a:r>
            <a:r>
              <a:rPr sz="1700" b="1">
                <a:solidFill>
                  <a:srgbClr val="22303F"/>
                </a:solidFill>
                <a:latin typeface="Cairo"/>
                <a:cs typeface="Cairo"/>
              </a:rPr>
              <a:t>لا يغني عن المراجعة البشرية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— بل يحرّرها للتفكير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0000" y="2656120"/>
            <a:ext cx="11112119" cy="556799"/>
          </a:xfrm>
          <a:prstGeom prst="roundRect">
            <a:avLst>
              <a:gd name="adj" fmla="val 6000"/>
            </a:avLst>
          </a:prstGeom>
          <a:solidFill>
            <a:srgbClr val="FFF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5999" y="2764120"/>
            <a:ext cx="10860120" cy="3767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8A5A06"/>
                </a:solidFill>
                <a:latin typeface="Cairo"/>
                <a:cs typeface="Cairo"/>
              </a:rPr>
              <a:t>الفحص الآلي يقدّم </a:t>
            </a:r>
            <a:r>
              <a:rPr sz="1500" b="1">
                <a:solidFill>
                  <a:srgbClr val="8A5A06"/>
                </a:solidFill>
                <a:latin typeface="Cairo"/>
                <a:cs typeface="Cairo"/>
              </a:rPr>
              <a:t>حكماً</a:t>
            </a:r>
            <a:r>
              <a:rPr sz="1500" b="0">
                <a:solidFill>
                  <a:srgbClr val="8A5A06"/>
                </a:solidFill>
                <a:latin typeface="Cairo"/>
                <a:cs typeface="Cairo"/>
              </a:rPr>
              <a:t> (نجاح/فشل)، وحماية الفرع تفرض </a:t>
            </a:r>
            <a:r>
              <a:rPr sz="1500" b="1">
                <a:solidFill>
                  <a:srgbClr val="8A5A06"/>
                </a:solidFill>
                <a:latin typeface="Cairo"/>
                <a:cs typeface="Cairo"/>
              </a:rPr>
              <a:t>قواعد وصول</a:t>
            </a:r>
            <a:r>
              <a:rPr sz="1500" b="0">
                <a:solidFill>
                  <a:srgbClr val="8A5A06"/>
                </a:solidFill>
                <a:latin typeface="Cairo"/>
                <a:cs typeface="Cairo"/>
              </a:rPr>
              <a:t>. كلاهما ضروري، ولا أحدهما بديل عن الآخر.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مسار الفحص: من الدفع إلى القرار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الوحدة 06 — الأتمتة الاحترافية (اختيارية) · 4/18</a:t>
            </a:r>
          </a:p>
        </p:txBody>
      </p:sp>
      <p:pic>
        <p:nvPicPr>
          <p:cNvPr id="5" name="Picture 4" descr="ci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000" y="1080000"/>
            <a:ext cx="11112119" cy="476118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المهمة 1 — ملف سير العمل (validate.yml)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الوحدة 06 — الأتمتة الاحترافية (اختيارية) · 5/18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080000"/>
            <a:ext cx="11112119" cy="46907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260000"/>
            <a:ext cx="10752119" cy="4330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7D8CA3"/>
                </a:solidFill>
                <a:latin typeface="Consolas"/>
              </a:rPr>
              <a:t># .github/workflows/validate.yml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name: validate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on: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  pull_request: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    branches: [ main ]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  push: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    branches: [ main ]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concurrency: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  group: validate-${{ github.ref }}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  cancel-in-progress: true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jobs: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  checks: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    runs-on: ubuntu-latest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    steps: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      - uses: actions/checkout@v4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      - uses: actions/setup-node@v4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        with: { node-version: '20' }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      - run: node tools/build-index.mjs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      - run: node tests/validate-members.mjs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      - run: git diff --exit-code -- data/members-index.json data/members-bundle.js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المهمة 1 — اقرأه واسأل الأسئلة الأربعة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الوحدة 06 — الأتمتة الاحترافية (اختيارية) · 6/18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1080000"/>
            <a:ext cx="11112119" cy="146812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متى يعمل؟ (عند كل طلب سحب نحو main، وعند كل دفع إلى main)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أين يعمل؟ (على خادم GitHub في بيئة نظيفة ubuntu-latest، لا على جهازك)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ما الخطوات الثلاث؟ (توليد الفهرس ← فحص البطاقات ← مطابقة الملفات المولَّدة)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لماذا 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concurrency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مع 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cancel-in-progress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؟ (ليلغي الفحص القديم عند دفعة جديدة، فلا ننتظر نتائج قديمة)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0000" y="2656120"/>
            <a:ext cx="11112119" cy="556799"/>
          </a:xfrm>
          <a:prstGeom prst="roundRect">
            <a:avLst>
              <a:gd name="adj" fmla="val 6000"/>
            </a:avLst>
          </a:prstGeom>
          <a:solidFill>
            <a:srgbClr val="EEF4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5999" y="2764120"/>
            <a:ext cx="10860120" cy="3767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1C4B86"/>
                </a:solidFill>
                <a:latin typeface="Cairo"/>
                <a:cs typeface="Cairo"/>
              </a:rPr>
              <a:t>سؤال حاسم: ماذا تكشف الخطوة الأخيرة </a:t>
            </a:r>
            <a:r>
              <a:rPr sz="1500" b="0">
                <a:solidFill>
                  <a:srgbClr val="1C4B86"/>
                </a:solidFill>
                <a:latin typeface="Consolas"/>
                <a:cs typeface="Consolas"/>
              </a:rPr>
              <a:t>git diff --exit-code</a:t>
            </a:r>
            <a:r>
              <a:rPr sz="1500" b="0">
                <a:solidFill>
                  <a:srgbClr val="1C4B86"/>
                </a:solidFill>
                <a:latin typeface="Cairo"/>
                <a:cs typeface="Cairo"/>
              </a:rPr>
              <a:t>؟ ← نسيان إعادة توليد الفهرس بعد إضافة بطاقة — أشهر خطأ في هذا المشروع.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المهمة 2 — جرّب الفحص محلياً أولاً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الوحدة 06 — الأتمتة الاحترافية (اختيارية) · 7/18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080000"/>
            <a:ext cx="11112119" cy="189543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260000"/>
            <a:ext cx="10752119" cy="1535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node tools/ci-local.mjs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=== فحص محلي مكافئ لـ CI المحلي ===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[1/3] توليد الفهرس ................ ✔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[2/3] فحص البطاقات ................ ✔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[3/3] مطابقة الملفات المولَّدة ...... ✔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--- النتيجة: كل الفحوص نجحت ✔ ---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0000" y="3083430"/>
            <a:ext cx="11112119" cy="556799"/>
          </a:xfrm>
          <a:prstGeom prst="roundRect">
            <a:avLst>
              <a:gd name="adj" fmla="val 6000"/>
            </a:avLst>
          </a:prstGeom>
          <a:solidFill>
            <a:srgbClr val="E6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5999" y="3191430"/>
            <a:ext cx="10860120" cy="3767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0A5D5C"/>
                </a:solidFill>
                <a:latin typeface="Cairo"/>
                <a:cs typeface="Cairo"/>
              </a:rPr>
              <a:t>عادة احترافية: شغّل الفحص محلياً </a:t>
            </a:r>
            <a:r>
              <a:rPr sz="1500" b="1">
                <a:solidFill>
                  <a:srgbClr val="0A5D5C"/>
                </a:solidFill>
                <a:latin typeface="Cairo"/>
                <a:cs typeface="Cairo"/>
              </a:rPr>
              <a:t>قبل</a:t>
            </a:r>
            <a:r>
              <a:rPr sz="1500" b="0">
                <a:solidFill>
                  <a:srgbClr val="0A5D5C"/>
                </a:solidFill>
                <a:latin typeface="Cairo"/>
                <a:cs typeface="Cairo"/>
              </a:rPr>
              <a:t> الدفع. لا ترسل عملاً ليقوم غيرك باكتشاف أخطائه.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المهمة 3 — فخّان ينتظرانك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الوحدة 06 — الأتمتة الاحترافية (اختيارية) · 8/18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080000"/>
            <a:ext cx="11112119" cy="339149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260000"/>
            <a:ext cx="10752119" cy="30314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7D8CA3"/>
                </a:solidFill>
                <a:latin typeface="Consolas"/>
              </a:rPr>
              <a:t># الفخ الأول: بطاقة تحمل وسم CHANGEME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7FD1A8"/>
                </a:solidFill>
                <a:latin typeface="Consolas"/>
              </a:rPr>
              <a:t>$ node tests/validate-members.mjs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F08C7A"/>
                </a:solidFill>
                <a:latin typeface="Consolas"/>
              </a:rPr>
              <a:t>✘ خطأ: يبدو أن البطاقة نسخة غير معدَّلة (الوسم CHANGEME موجود ولم يُستبدل).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  الملف: data/members/omar-qa.json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/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7D8CA3"/>
                </a:solidFill>
                <a:latin typeface="Consolas"/>
              </a:rPr>
              <a:t># الفخ الثاني: نسيت إعادة توليد الفهرس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7FD1A8"/>
                </a:solidFill>
                <a:latin typeface="Consolas"/>
              </a:rPr>
              <a:t>$ git diff --exit-code -- data/members-index.json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diff --git a/data/members-index.json b/data/members-index.json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--- a/data/members-index.json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+++ b/data/members-index.json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@@ -5,6 +5,7 @@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     { "username": "leen-docs", ... }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+    { "username": "omar-qa", ... }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exit status 1        ← الفحص سيفشل حتى تصلح هذا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4579490"/>
            <a:ext cx="11112119" cy="36703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المطلوب: </a:t>
            </a:r>
            <a:r>
              <a:rPr sz="1700" b="1">
                <a:solidFill>
                  <a:srgbClr val="22303F"/>
                </a:solidFill>
                <a:latin typeface="Cairo"/>
                <a:cs typeface="Cairo"/>
              </a:rPr>
              <a:t>خرّب المشروع عن قصد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في فرع تجريبي، وشاهد الفحص يفشل، ثم أصلحه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المهمة 3 — شبكة إضافية: التحقق الضعيف يكذب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الوحدة 06 — الأتمتة الاحترافية (اختيارية) · 9/18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080000"/>
            <a:ext cx="11112119" cy="189543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260000"/>
            <a:ext cx="10752119" cy="1535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D8CA3"/>
                </a:solidFill>
                <a:latin typeface="Consolas"/>
              </a:rPr>
              <a:t># فحص قديم وحيد: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grep -rInE "^(&lt;&lt;&lt;&lt;&lt;&lt;&lt;|&gt;&gt;&gt;&gt;&gt;&gt;&gt;|=======)$" --exclude-dir=.git .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/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D8CA3"/>
                </a:solidFill>
                <a:latin typeface="Consolas"/>
              </a:rPr>
              <a:t># لماذا يكون صحيحاً أحياناً؟ لأنه: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D8CA3"/>
                </a:solidFill>
                <a:latin typeface="Consolas"/>
              </a:rPr>
              <a:t>#  - يفشل في كشف "&lt;&lt;&lt;&lt;&lt;&lt;&lt; HEAD" (بعدها مسافة ثم كلمة)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D8CA3"/>
                </a:solidFill>
                <a:latin typeface="Consolas"/>
              </a:rPr>
              <a:t>#  - يفشل في كشف ملفات .txt أنشأها الطلاب بعلامات دمج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0000" y="3083430"/>
            <a:ext cx="11112119" cy="861599"/>
          </a:xfrm>
          <a:prstGeom prst="roundRect">
            <a:avLst>
              <a:gd name="adj" fmla="val 6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5999" y="3191430"/>
            <a:ext cx="10860120" cy="6815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8C1D17"/>
                </a:solidFill>
                <a:latin typeface="Cairo"/>
                <a:cs typeface="Cairo"/>
              </a:rPr>
              <a:t>لذلك المهمة الأخيرة في سجل التغييرات تكتب الفحص الصحيح:</a:t>
            </a:r>
          </a:p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8C1D17"/>
                </a:solidFill>
                <a:latin typeface="Consolas"/>
                <a:cs typeface="Consolas"/>
              </a:rPr>
              <a:t>grep -rInE "^(&lt;{7}|={7}|&gt;{7})( |$)" --exclude-dir=.git 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0000" y="4053029"/>
            <a:ext cx="11112119" cy="36703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من يكتشف ضعف الفحص القديم ويوثّقه يحصل على </a:t>
            </a:r>
            <a:r>
              <a:rPr sz="1700" b="1">
                <a:solidFill>
                  <a:srgbClr val="22303F"/>
                </a:solidFill>
                <a:latin typeface="Cairo"/>
                <a:cs typeface="Cairo"/>
              </a:rPr>
              <a:t>5 درجات إضافية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المهمة 4 — أصلح حتى يصبح أخضر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الوحدة 06 — الأتمتة الاحترافية (اختيارية) · 10/18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080000"/>
            <a:ext cx="11112119" cy="2663145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260000"/>
            <a:ext cx="10752119" cy="23031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node tools/build-index.mjs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[build-index] ✔ تم توليد الفهرس: 7 بطاقة.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/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node tests/validate-members.mjs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--- النتيجة / Result: 7 بطاقة، 0 خطأ، 0 تحذير ---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/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add data/members-index.json data/members-bundle.js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commit -m "chore(data): regenerate members index after adding card"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push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3851145"/>
            <a:ext cx="11112119" cy="73406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راقب تبويب Actions في طلب السحب: </a:t>
            </a:r>
            <a:r>
              <a:rPr sz="1700" b="1">
                <a:solidFill>
                  <a:srgbClr val="22303F"/>
                </a:solidFill>
                <a:latin typeface="Cairo"/>
                <a:cs typeface="Cairo"/>
              </a:rPr>
              <a:t>أصفر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(يعمل) ← </a:t>
            </a:r>
            <a:r>
              <a:rPr sz="1700" b="1">
                <a:solidFill>
                  <a:srgbClr val="22303F"/>
                </a:solidFill>
                <a:latin typeface="Cairo"/>
                <a:cs typeface="Cairo"/>
              </a:rPr>
              <a:t>أخضر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✔ (نجح)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القاعدة: لا تدمج ولا تطلب مراجعة وأنت ترى دائرة صفراء أو حمراء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المهمة 5 — حماية الفرع: القواعد الخمس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الوحدة 06 — الأتمتة الاحترافية (اختيارية) · 11/18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0000" y="1080000"/>
          <a:ext cx="11112119" cy="22437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04039"/>
                <a:gridCol w="3704039"/>
                <a:gridCol w="3704041"/>
              </a:tblGrid>
              <a:tr h="37395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iro"/>
                          <a:cs typeface="Cairo"/>
                        </a:rPr>
                        <a:t>القاعدة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iro"/>
                          <a:cs typeface="Cairo"/>
                        </a:rPr>
                        <a:t>القيمة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iro"/>
                          <a:cs typeface="Cairo"/>
                        </a:rPr>
                        <a:t>لماذا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</a:tr>
              <a:tr h="373950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منع الدفع المباشر إلى main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لا تجاوز للمراجعة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3950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طلب موافقة واحدة على الأقل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1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مراجعة بشرية حقيقية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</a:tr>
              <a:tr h="373950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فحص مطلوب قبل الدمج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validate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لا دمج بفحص فاشل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3950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منع القوة (force push)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✔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لا حذف لتاريخ الفريق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</a:tr>
              <a:tr h="373950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منع حذف الفرع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لا فقدان مفاجئ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0000" y="3431700"/>
            <a:ext cx="11112119" cy="556799"/>
          </a:xfrm>
          <a:prstGeom prst="roundRect">
            <a:avLst>
              <a:gd name="adj" fmla="val 6000"/>
            </a:avLst>
          </a:prstGeom>
          <a:solidFill>
            <a:srgbClr val="F7F4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5999" y="3539700"/>
            <a:ext cx="10860120" cy="3767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4B2683"/>
                </a:solidFill>
                <a:latin typeface="Cairo"/>
                <a:cs typeface="Cairo"/>
              </a:rPr>
              <a:t>حماية الفرع ليست ثقة بالآخرين، بل تقليل لاحتمال الخطأ البشري — بما فيه خطؤك أنت.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CODEOWNERS — من يجب أن يوافق؟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الوحدة 06 — الأتمتة الاحترافية (اختيارية) · 12/18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080000"/>
            <a:ext cx="11112119" cy="2151335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260000"/>
            <a:ext cx="10752119" cy="17913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D8CA3"/>
                </a:solidFill>
                <a:latin typeface="Consolas"/>
              </a:rPr>
              <a:t># .github/CODEOWNERS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D8CA3"/>
                </a:solidFill>
                <a:latin typeface="Consolas"/>
              </a:rPr>
              <a:t># الترتيب مهم: الأخص سطراً يفوز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/data/members/site-config.json   @instructor-team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/data/members/                   @instructor-team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/tests/                          @instructor-team @qa-lead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/docs/                           @docs-team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*                                @instructor-team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3339335"/>
            <a:ext cx="11112119" cy="73406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مالك الكود </a:t>
            </a:r>
            <a:r>
              <a:rPr sz="1700" b="1">
                <a:solidFill>
                  <a:srgbClr val="22303F"/>
                </a:solidFill>
                <a:latin typeface="Cairo"/>
                <a:cs typeface="Cairo"/>
              </a:rPr>
              <a:t>لا يُستدعى تلقائياً للدمج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، بل </a:t>
            </a:r>
            <a:r>
              <a:rPr sz="1700" b="1">
                <a:solidFill>
                  <a:srgbClr val="22303F"/>
                </a:solidFill>
                <a:latin typeface="Cairo"/>
                <a:cs typeface="Cairo"/>
              </a:rPr>
              <a:t>يُطلب تلقائياً كمراجع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— والموافقة شرط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لاحظ: سطر 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/data/members/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يحمي بطاقات الطلاب، لا يسمح بتعديل بيانات عضوية أساسية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المهمة 6 — الإصدار: الوسم والفحص والتحقق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الوحدة 06 — الأتمتة الاحترافية (اختيارية) · 13/18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080000"/>
            <a:ext cx="11112119" cy="2741885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260000"/>
            <a:ext cx="10752119" cy="2381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7FD1A8"/>
                </a:solidFill>
                <a:latin typeface="Consolas"/>
              </a:rPr>
              <a:t>$ git switch main &amp;&amp; git pull --ff-only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7FD1A8"/>
                </a:solidFill>
                <a:latin typeface="Consolas"/>
              </a:rPr>
              <a:t>$ git tag -a v1.0.0 -m "الإصدار الأول: بطاقات الفريق + CI + صفحات النشر"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Tagger: Workshop Instructor &lt;instructor@example.com&gt;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Date:   Tue Oct 6 12:05:41 2026 +0300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/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7FD1A8"/>
                </a:solidFill>
                <a:latin typeface="Consolas"/>
              </a:rPr>
              <a:t>$ git show v1.0.0 --stat --no-patch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commit 0b1c2d3...   ← يشير إلى عقدة الدمج الرئيسية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/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7FD1A8"/>
                </a:solidFill>
                <a:latin typeface="Consolas"/>
              </a:rPr>
              <a:t>$ git push origin v1.0.0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To https://github.com/&lt;org&gt;/class-team-hub.git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 * [new tag]   v1.0.0 -&gt; v1.0.0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0000" y="3929885"/>
            <a:ext cx="11112119" cy="556799"/>
          </a:xfrm>
          <a:prstGeom prst="roundRect">
            <a:avLst>
              <a:gd name="adj" fmla="val 6000"/>
            </a:avLst>
          </a:prstGeom>
          <a:solidFill>
            <a:srgbClr val="FFF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5999" y="4037885"/>
            <a:ext cx="10860120" cy="3767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8A5A06"/>
                </a:solidFill>
                <a:latin typeface="Consolas"/>
                <a:cs typeface="Consolas"/>
              </a:rPr>
              <a:t>git ls-remote --tags origin</a:t>
            </a:r>
            <a:r>
              <a:rPr sz="1500" b="0">
                <a:solidFill>
                  <a:srgbClr val="8A5A06"/>
                </a:solidFill>
                <a:latin typeface="Cairo"/>
                <a:cs typeface="Cairo"/>
              </a:rPr>
              <a:t> هو </a:t>
            </a:r>
            <a:r>
              <a:rPr sz="1500" b="1">
                <a:solidFill>
                  <a:srgbClr val="8A5A06"/>
                </a:solidFill>
                <a:latin typeface="Cairo"/>
                <a:cs typeface="Cairo"/>
              </a:rPr>
              <a:t>الدليل الوحيد</a:t>
            </a:r>
            <a:r>
              <a:rPr sz="1500" b="0">
                <a:solidFill>
                  <a:srgbClr val="8A5A06"/>
                </a:solidFill>
                <a:latin typeface="Cairo"/>
                <a:cs typeface="Cairo"/>
              </a:rPr>
              <a:t> على أن الوسم على الخادم. وسم محلي لا يظهر لأحد ولا يمكن لأحد استخدامه.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الوسم العادي مقابل الوسم المعنون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الوحدة 06 — الأتمتة الاحترافية (اختيارية) · 14/18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0000" y="1080000"/>
          <a:ext cx="11112119" cy="1881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04039"/>
                <a:gridCol w="3704039"/>
                <a:gridCol w="3704041"/>
              </a:tblGrid>
              <a:tr h="376350">
                <a:tc>
                  <a:txBody>
                    <a:bodyPr/>
                    <a:lstStyle/>
                    <a:p>
                      <a:pPr algn="ctr"/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iro"/>
                          <a:cs typeface="Cairo"/>
                        </a:rPr>
                        <a:t>خفيف (lightweight)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iro"/>
                          <a:cs typeface="Cairo"/>
                        </a:rPr>
                        <a:t>معنون (annotated)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</a:tr>
              <a:tr h="376350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الأمر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git tag v1.0.0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git tag -a v1.0.0 -m "..."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6350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من وسم؟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لا تسجيل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اسم ووقت ورسالة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</a:tr>
              <a:tr h="376350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الشائع في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علامات محلية سريعة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الإصدارات الرسمية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6350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الاستخدام مع Releases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غير مناسب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✔ الموصى به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0000" y="3069750"/>
            <a:ext cx="11112119" cy="36703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أوامر الفحص: 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git tag -l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· 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git tag -n1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· 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git show v1.0.0 --stat --no-patch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· 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git ls-remote --tags origin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خريطة SemVer — أي رقم يزيد؟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الوحدة 06 — الأتمتة الاحترافية (اختيارية) · 15/18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0000" y="1080000"/>
          <a:ext cx="11112119" cy="1519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04039"/>
                <a:gridCol w="3704039"/>
                <a:gridCol w="3704041"/>
              </a:tblGrid>
              <a:tr h="37995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iro"/>
                          <a:cs typeface="Cairo"/>
                        </a:rPr>
                        <a:t>نوع التغيير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iro"/>
                          <a:cs typeface="Cairo"/>
                        </a:rPr>
                        <a:t>مثال من مشروعنا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iro"/>
                          <a:cs typeface="Cairo"/>
                        </a:rPr>
                        <a:t>الرقم الذي يزيد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</a:tr>
              <a:tr h="379950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كسر التوافق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تغيير بنية بطاقة موجودة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MAJOR (2.0.0)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9950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ميزة جديدة متوافقة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صفحة «الأسئلة الشائعة»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MINOR (1.1.0)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</a:tr>
              <a:tr h="379950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إصلاح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تصحيح محاذاة البطاقة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PATCH (1.0.1)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0000" y="2707800"/>
            <a:ext cx="11112119" cy="1639525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0000" y="2887800"/>
            <a:ext cx="10752119" cy="12795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tag -l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v1.0.0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/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tag -n1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v1.0.0          الإصدار الأول: بطاقات الفريق + CI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000" y="4455325"/>
            <a:ext cx="11112119" cy="36703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القاعدة: القمة (MAJOR) الأكثر خطورة على المستخدمين — لا ترفعها إلا عند كسر توافق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الشريط الجانبي: الإصدارات (Releases) وسجل التغييرات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الوحدة 06 — الأتمتة الاحترافية (اختيارية) · 16/18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080000"/>
            <a:ext cx="11112119" cy="27222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260000"/>
            <a:ext cx="10752119" cy="2362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15000"/>
              </a:lnSpc>
            </a:pPr>
            <a:r>
              <a:rPr sz="1200">
                <a:solidFill>
                  <a:srgbClr val="7FD1A8"/>
                </a:solidFill>
                <a:latin typeface="Consolas"/>
              </a:rPr>
              <a:t>$ git add CHANGELOG.md</a:t>
            </a:r>
          </a:p>
          <a:p>
            <a:pPr algn="l" rtl="0">
              <a:lnSpc>
                <a:spcPct val="115000"/>
              </a:lnSpc>
            </a:pPr>
            <a:r>
              <a:rPr sz="1200">
                <a:solidFill>
                  <a:srgbClr val="7FD1A8"/>
                </a:solidFill>
                <a:latin typeface="Consolas"/>
              </a:rPr>
              <a:t>$ git commit -m "docs(changelog): add release notes for v1.0.0"</a:t>
            </a:r>
          </a:p>
          <a:p>
            <a:pPr algn="l" rtl="0">
              <a:lnSpc>
                <a:spcPct val="115000"/>
              </a:lnSpc>
            </a:pPr>
            <a:r>
              <a:rPr sz="1200">
                <a:solidFill>
                  <a:srgbClr val="7FD1A8"/>
                </a:solidFill>
                <a:latin typeface="Consolas"/>
              </a:rPr>
              <a:t>$ git push</a:t>
            </a:r>
          </a:p>
          <a:p>
            <a:pPr algn="l" rtl="0">
              <a:lnSpc>
                <a:spcPct val="115000"/>
              </a:lnSpc>
            </a:pPr>
            <a:r>
              <a:rPr sz="1200">
                <a:solidFill>
                  <a:srgbClr val="E6EDF7"/>
                </a:solidFill>
                <a:latin typeface="Consolas"/>
              </a:rPr>
              <a:t/>
            </a:r>
          </a:p>
          <a:p>
            <a:pPr algn="l" rtl="0">
              <a:lnSpc>
                <a:spcPct val="115000"/>
              </a:lnSpc>
            </a:pPr>
            <a:r>
              <a:rPr sz="1200">
                <a:solidFill>
                  <a:srgbClr val="E6EDF7"/>
                </a:solidFill>
                <a:latin typeface="Consolas"/>
              </a:rPr>
              <a:t>GitHub → Releases → Draft a new release</a:t>
            </a:r>
          </a:p>
          <a:p>
            <a:pPr algn="l" rtl="0">
              <a:lnSpc>
                <a:spcPct val="115000"/>
              </a:lnSpc>
            </a:pPr>
            <a:r>
              <a:rPr sz="1200">
                <a:solidFill>
                  <a:srgbClr val="E6EDF7"/>
                </a:solidFill>
                <a:latin typeface="Consolas"/>
              </a:rPr>
              <a:t>  Tag:          v1.0.0</a:t>
            </a:r>
          </a:p>
          <a:p>
            <a:pPr algn="l" rtl="0">
              <a:lnSpc>
                <a:spcPct val="115000"/>
              </a:lnSpc>
            </a:pPr>
            <a:r>
              <a:rPr sz="1200">
                <a:solidFill>
                  <a:srgbClr val="E6EDF7"/>
                </a:solidFill>
                <a:latin typeface="Consolas"/>
              </a:rPr>
              <a:t>  Target:       main</a:t>
            </a:r>
          </a:p>
          <a:p>
            <a:pPr algn="l" rtl="0">
              <a:lnSpc>
                <a:spcPct val="115000"/>
              </a:lnSpc>
            </a:pPr>
            <a:r>
              <a:rPr sz="1200">
                <a:solidFill>
                  <a:srgbClr val="E6EDF7"/>
                </a:solidFill>
                <a:latin typeface="Consolas"/>
              </a:rPr>
              <a:t>  Title:        v1.0.0 — أول إصدار مستقر</a:t>
            </a:r>
          </a:p>
          <a:p>
            <a:pPr algn="l" rtl="0">
              <a:lnSpc>
                <a:spcPct val="115000"/>
              </a:lnSpc>
            </a:pPr>
            <a:r>
              <a:rPr sz="1200">
                <a:solidFill>
                  <a:srgbClr val="E6EDF7"/>
                </a:solidFill>
                <a:latin typeface="Consolas"/>
              </a:rPr>
              <a:t>  Description:  ملخص التغييرات من CHANGELOG.md</a:t>
            </a:r>
          </a:p>
          <a:p>
            <a:pPr algn="l" rtl="0">
              <a:lnSpc>
                <a:spcPct val="115000"/>
              </a:lnSpc>
            </a:pPr>
            <a:r>
              <a:rPr sz="1200">
                <a:solidFill>
                  <a:srgbClr val="E6EDF7"/>
                </a:solidFill>
                <a:latin typeface="Consolas"/>
              </a:rPr>
              <a:t>  → Publish release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0000" y="3910200"/>
            <a:ext cx="11112119" cy="1639525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0000" y="4090200"/>
            <a:ext cx="10752119" cy="12795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D8CA3"/>
                </a:solidFill>
                <a:latin typeface="Consolas"/>
              </a:rPr>
              <a:t># من CHANGELOG.md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D8CA3"/>
                </a:solidFill>
                <a:latin typeface="Consolas"/>
              </a:rPr>
              <a:t>## [1.0.0] - 2026-10-06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D8CA3"/>
                </a:solidFill>
                <a:latin typeface="Consolas"/>
              </a:rPr>
              <a:t>### Added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- بطاقات تعريفية لكل أعضاء الفريق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- فحص آلي عند كل طلب سحب (validate.yml)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0000" y="5657725"/>
            <a:ext cx="11112119" cy="36703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الفرق: </a:t>
            </a:r>
            <a:r>
              <a:rPr sz="1700" b="1">
                <a:solidFill>
                  <a:srgbClr val="22303F"/>
                </a:solidFill>
                <a:latin typeface="Cairo"/>
                <a:cs typeface="Cairo"/>
              </a:rPr>
              <a:t>الوسم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علامة في التاريخ، </a:t>
            </a:r>
            <a:r>
              <a:rPr sz="1700" b="1">
                <a:solidFill>
                  <a:srgbClr val="22303F"/>
                </a:solidFill>
                <a:latin typeface="Cairo"/>
                <a:cs typeface="Cairo"/>
              </a:rPr>
              <a:t>الإصدار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صفحة موثّقة بملفات نهائية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فكرة الاحتراف — تجربة الفرق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الوحدة 06 — الأتمتة الاحترافية (اختيارية) · 17/18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080000"/>
            <a:ext cx="5448059" cy="159776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04059" y="1080000"/>
            <a:ext cx="5448059" cy="159776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8000" y="1188000"/>
            <a:ext cx="5232059" cy="159776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500" b="0">
                <a:solidFill>
                  <a:srgbClr val="22303F"/>
                </a:solidFill>
                <a:latin typeface="Cairo"/>
                <a:cs typeface="Cairo"/>
              </a:rPr>
              <a:t>• «أجرتنا تعلّم كلاماً، وهذه الوحدة أظهرت لي ما يحدث فعلاً عند كل دفع.»</a:t>
            </a:r>
          </a:p>
          <a:p>
            <a:pPr algn="r" rtl="1">
              <a:lnSpc>
                <a:spcPct val="130000"/>
              </a:lnSpc>
            </a:pPr>
            <a:r>
              <a:rPr sz="1500" b="0">
                <a:solidFill>
                  <a:srgbClr val="22303F"/>
                </a:solidFill>
                <a:latin typeface="Cairo"/>
                <a:cs typeface="Cairo"/>
              </a:rPr>
              <a:t>• «رأيت أول مرة فحصاً يفشل بسبب ملف لم أُولّده — درس لا يُنسى.»</a:t>
            </a:r>
          </a:p>
          <a:p>
            <a:pPr algn="r" rtl="1">
              <a:lnSpc>
                <a:spcPct val="130000"/>
              </a:lnSpc>
            </a:pPr>
            <a:r>
              <a:rPr sz="1500" b="0">
                <a:solidFill>
                  <a:srgbClr val="22303F"/>
                </a:solidFill>
                <a:latin typeface="Cairo"/>
                <a:cs typeface="Cairo"/>
              </a:rPr>
              <a:t>• «صفحة الإصدار على GitHub تجعل مشروعنا يبدو حقيقياً.»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12059" y="1188000"/>
            <a:ext cx="5232059" cy="159776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500" b="0">
                <a:solidFill>
                  <a:srgbClr val="22303F"/>
                </a:solidFill>
                <a:latin typeface="Cairo"/>
                <a:cs typeface="Cairo"/>
              </a:rPr>
              <a:t>• </a:t>
            </a:r>
            <a:r>
              <a:rPr sz="1500" b="1">
                <a:solidFill>
                  <a:srgbClr val="22303F"/>
                </a:solidFill>
                <a:latin typeface="Cairo"/>
                <a:cs typeface="Cairo"/>
              </a:rPr>
              <a:t>سؤال الحماية:</a:t>
            </a:r>
            <a:r>
              <a:rPr sz="1500" b="0">
                <a:solidFill>
                  <a:srgbClr val="22303F"/>
                </a:solidFill>
                <a:latin typeface="Cairo"/>
                <a:cs typeface="Cairo"/>
              </a:rPr>
              <a:t> ما الفرق بين «فحص مطلوب» و«حماية الفرع»؟</a:t>
            </a:r>
          </a:p>
          <a:p>
            <a:pPr algn="r" rtl="1">
              <a:lnSpc>
                <a:spcPct val="130000"/>
              </a:lnSpc>
            </a:pPr>
            <a:r>
              <a:rPr sz="1500" b="0">
                <a:solidFill>
                  <a:srgbClr val="22303F"/>
                </a:solidFill>
                <a:latin typeface="Cairo"/>
                <a:cs typeface="Cairo"/>
              </a:rPr>
              <a:t>• الجواب: الفحص يعطي حكماً على الجودة؛ الحماية تفرض قواعد الوصول والدمج.</a:t>
            </a:r>
          </a:p>
          <a:p>
            <a:pPr algn="r" rtl="1">
              <a:lnSpc>
                <a:spcPct val="130000"/>
              </a:lnSpc>
            </a:pPr>
            <a:r>
              <a:rPr sz="1500" b="0">
                <a:solidFill>
                  <a:srgbClr val="22303F"/>
                </a:solidFill>
                <a:latin typeface="Cairo"/>
                <a:cs typeface="Cairo"/>
              </a:rPr>
              <a:t>• </a:t>
            </a:r>
            <a:r>
              <a:rPr sz="1500" b="1">
                <a:solidFill>
                  <a:srgbClr val="22303F"/>
                </a:solidFill>
                <a:latin typeface="Cairo"/>
                <a:cs typeface="Cairo"/>
              </a:rPr>
              <a:t>سؤال الإصدار:</a:t>
            </a:r>
            <a:r>
              <a:rPr sz="1500" b="0">
                <a:solidFill>
                  <a:srgbClr val="22303F"/>
                </a:solidFill>
                <a:latin typeface="Cairo"/>
                <a:cs typeface="Cairo"/>
              </a:rPr>
              <a:t> ما الذي يجعل الإصدار رسمياً؟</a:t>
            </a:r>
          </a:p>
          <a:p>
            <a:pPr algn="r" rtl="1">
              <a:lnSpc>
                <a:spcPct val="130000"/>
              </a:lnSpc>
            </a:pPr>
            <a:r>
              <a:rPr sz="1500" b="0">
                <a:solidFill>
                  <a:srgbClr val="22303F"/>
                </a:solidFill>
                <a:latin typeface="Cairo"/>
                <a:cs typeface="Cairo"/>
              </a:rPr>
              <a:t>• الجواب: وسم معنون مرفوع + ملفات نهائية + سجل تغييرات.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0000" y="2785760"/>
            <a:ext cx="11112119" cy="556799"/>
          </a:xfrm>
          <a:prstGeom prst="roundRect">
            <a:avLst>
              <a:gd name="adj" fmla="val 6000"/>
            </a:avLst>
          </a:prstGeom>
          <a:solidFill>
            <a:srgbClr val="E7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5999" y="2893760"/>
            <a:ext cx="10860120" cy="3767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0B6244"/>
                </a:solidFill>
                <a:latin typeface="Cairo"/>
                <a:cs typeface="Cairo"/>
              </a:rPr>
              <a:t>إتقان الأربعة — CI + الحماية + CODEOWNERS + الإصدار — هو الفرق بين «أعرف Git» و«جاهز للعمل في فريق هندسي».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ختام الوحدة والمشروع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الوحدة 06 — الأتمتة الاحترافية (اختيارية) · 18/18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1080000"/>
            <a:ext cx="11112119" cy="146812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المشروع الآن: فحص آلي يحمي الجودة، قواعد تحمي الفرع، وإصدار موثّق يحمل رقمه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هذا ملف أعمال حقيقي يمكنك عرضه في السيرة الذاتية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طريقتك في الحديث عنه في المقابلة: «بنيت مشروعاً يستخدم Git Flow، مع CI على كل طلب سحب، وحماية فرع main، وإصدار معنون»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شكراً لكم — البرنامج ينتهي هنا، لكن المستودع يبقى لكم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0000" y="2656120"/>
            <a:ext cx="11112119" cy="556799"/>
          </a:xfrm>
          <a:prstGeom prst="roundRect">
            <a:avLst>
              <a:gd name="adj" fmla="val 6000"/>
            </a:avLst>
          </a:prstGeom>
          <a:solidFill>
            <a:srgbClr val="E6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5999" y="2764120"/>
            <a:ext cx="10860120" cy="3767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0A5D5C"/>
                </a:solidFill>
                <a:latin typeface="Cairo"/>
                <a:cs typeface="Cairo"/>
              </a:rPr>
              <a:t>الخطوة التالية بعد الورشة: طبّق نفس العملية على مشروعك الشخصي، وشارك الرابط معي للمراجعة.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