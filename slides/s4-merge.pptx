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22000"/>
            <a:ext cx="12192119" cy="936000"/>
          </a:xfrm>
          <a:prstGeom prst="rect">
            <a:avLst/>
          </a:prstGeom>
          <a:solidFill>
            <a:srgbClr val="E862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655999"/>
            <a:ext cx="11112119" cy="79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500" b="0">
                <a:solidFill>
                  <a:srgbClr val="9FC0E6"/>
                </a:solidFill>
                <a:latin typeface="Cairo"/>
                <a:cs typeface="Cairo"/>
              </a:rPr>
              <a:t>ورشة GIT وGITHUB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2376000"/>
            <a:ext cx="11112119" cy="151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Cairo"/>
                <a:cs typeface="Cairo"/>
              </a:rPr>
              <a:t>مزامنة الفريق: كيف أرى تعديلات زملائي؟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4031999"/>
            <a:ext cx="11112119" cy="57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800" b="0">
                <a:solidFill>
                  <a:srgbClr val="D3E2F2"/>
                </a:solidFill>
                <a:latin typeface="Segoe UI"/>
                <a:cs typeface="Segoe UI"/>
              </a:rPr>
              <a:t>Session 04 · Sync, Merge &amp; Undo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6066000"/>
            <a:ext cx="11112119" cy="503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300" b="0">
                <a:solidFill>
                  <a:srgbClr val="FFFFFF"/>
                </a:solidFill>
                <a:latin typeface="Cairo"/>
                <a:cs typeface="Cairo"/>
              </a:rPr>
              <a:t>ورشة Git وGitHub · الجلسة 04 — المزامنة والدمج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62000"/>
            <a:ext cx="8952119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Cairo"/>
                <a:cs typeface="Cairo"/>
              </a:rPr>
              <a:t>سؤال كل فريق مبتدئ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16000"/>
            <a:ext cx="11112119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0">
                <a:solidFill>
                  <a:srgbClr val="9FC0E6"/>
                </a:solidFill>
                <a:latin typeface="Segoe UI"/>
                <a:cs typeface="Segoe UI"/>
              </a:rPr>
              <a:t>الجلسة 04 — المزامنة والدمج · 2/13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080000"/>
            <a:ext cx="11112119" cy="146812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«زميلي أضاف تعديلاً… وأنا لا أراه!» — لماذا؟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ثلاثة أسباب شائعة: لم يرفع (</a:t>
            </a:r>
            <a:r>
              <a:rPr sz="1700" b="0">
                <a:solidFill>
                  <a:srgbClr val="22303F"/>
                </a:solidFill>
                <a:latin typeface="Consolas"/>
                <a:cs typeface="Consolas"/>
              </a:rPr>
              <a:t>push</a:t>
            </a: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)، أو رفع على فرع لم يُدمج، أو نسختك لم تُحدَّث (</a:t>
            </a:r>
            <a:r>
              <a:rPr sz="1700" b="0">
                <a:solidFill>
                  <a:srgbClr val="22303F"/>
                </a:solidFill>
                <a:latin typeface="Consolas"/>
                <a:cs typeface="Consolas"/>
              </a:rPr>
              <a:t>pull</a:t>
            </a: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)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اليوم نتقن الطرف الثالث ونفهم كيف يعمل الدمج فعلاً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ونضيف مهارة أهم: </a:t>
            </a:r>
            <a:r>
              <a:rPr sz="1700" b="1">
                <a:solidFill>
                  <a:srgbClr val="22303F"/>
                </a:solidFill>
                <a:latin typeface="Cairo"/>
                <a:cs typeface="Cairo"/>
              </a:rPr>
              <a:t>التراجع الآمن</a:t>
            </a: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 عندما يفسد شيء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0000" y="2656120"/>
            <a:ext cx="11112119" cy="556799"/>
          </a:xfrm>
          <a:prstGeom prst="roundRect">
            <a:avLst>
              <a:gd name="adj" fmla="val 6000"/>
            </a:avLst>
          </a:prstGeom>
          <a:solidFill>
            <a:srgbClr val="EE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5999" y="2764120"/>
            <a:ext cx="10860120" cy="3767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0">
                <a:solidFill>
                  <a:srgbClr val="1C4B86"/>
                </a:solidFill>
                <a:latin typeface="Cairo"/>
                <a:cs typeface="Cairo"/>
              </a:rPr>
              <a:t>هدف اليوم ليس تنفيذ أوامر، بل </a:t>
            </a:r>
            <a:r>
              <a:rPr sz="1500" b="1">
                <a:solidFill>
                  <a:srgbClr val="1C4B86"/>
                </a:solidFill>
                <a:latin typeface="Cairo"/>
                <a:cs typeface="Cairo"/>
              </a:rPr>
              <a:t>قراءة</a:t>
            </a:r>
            <a:r>
              <a:rPr sz="1500" b="0">
                <a:solidFill>
                  <a:srgbClr val="1C4B86"/>
                </a:solidFill>
                <a:latin typeface="Cairo"/>
                <a:cs typeface="Cairo"/>
              </a:rPr>
              <a:t> مخرجاتها: أين أنا؟ ما الجديد؟ ما الفرق؟ من فعل هذا؟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62000"/>
            <a:ext cx="8952119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Cairo"/>
                <a:cs typeface="Cairo"/>
              </a:rPr>
              <a:t>fetch مقابل pull — الفرق في خطوة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16000"/>
            <a:ext cx="11112119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0">
                <a:solidFill>
                  <a:srgbClr val="9FC0E6"/>
                </a:solidFill>
                <a:latin typeface="Segoe UI"/>
                <a:cs typeface="Segoe UI"/>
              </a:rPr>
              <a:t>الجلسة 04 — المزامنة والدمج · 3/13</a:t>
            </a:r>
          </a:p>
        </p:txBody>
      </p:sp>
      <p:pic>
        <p:nvPicPr>
          <p:cNvPr id="5" name="Picture 4" descr="fetch-vs-p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1080000"/>
            <a:ext cx="11112119" cy="385391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62000"/>
            <a:ext cx="8952119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Cairo"/>
                <a:cs typeface="Cairo"/>
              </a:rPr>
              <a:t>المهمة 1 — اعرف أين أنت قبل أن تدمج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16000"/>
            <a:ext cx="11112119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0">
                <a:solidFill>
                  <a:srgbClr val="9FC0E6"/>
                </a:solidFill>
                <a:latin typeface="Segoe UI"/>
                <a:cs typeface="Segoe UI"/>
              </a:rPr>
              <a:t>الجلسة 04 — المزامنة والدمج · 4/13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080000"/>
            <a:ext cx="11112119" cy="295842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1260000"/>
            <a:ext cx="10752119" cy="2598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7FD1A8"/>
                </a:solidFill>
                <a:latin typeface="Consolas"/>
              </a:rPr>
              <a:t>$ git switch main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7FD1A8"/>
                </a:solidFill>
                <a:latin typeface="Consolas"/>
              </a:rPr>
              <a:t>$ git fetch origin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E6EDF7"/>
                </a:solidFill>
                <a:latin typeface="Consolas"/>
              </a:rPr>
              <a:t>remote: Enumerating objects: 9, done.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E6EDF7"/>
                </a:solidFill>
                <a:latin typeface="Consolas"/>
              </a:rPr>
              <a:t>From https://github.com/&lt;org&gt;/class-team-hub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E6EDF7"/>
                </a:solidFill>
                <a:latin typeface="Consolas"/>
              </a:rPr>
              <a:t>   a1b2c3d..f9e8d7c  main       -&gt; origin/main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E6EDF7"/>
                </a:solidFill>
                <a:latin typeface="Consolas"/>
              </a:rPr>
              <a:t/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7FD1A8"/>
                </a:solidFill>
                <a:latin typeface="Consolas"/>
              </a:rPr>
              <a:t>$ git status -sb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7D8CA3"/>
                </a:solidFill>
                <a:latin typeface="Consolas"/>
              </a:rPr>
              <a:t>## main...origin/main [behind 2]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E6EDF7"/>
                </a:solidFill>
                <a:latin typeface="Consolas"/>
              </a:rPr>
              <a:t/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7FD1A8"/>
                </a:solidFill>
                <a:latin typeface="Consolas"/>
              </a:rPr>
              <a:t>$ git log --oneline HEAD..origin/main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E6EDF7"/>
                </a:solidFill>
                <a:latin typeface="Consolas"/>
              </a:rPr>
              <a:t>f9e8d7c feat(members): add card for leen-docs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E6EDF7"/>
                </a:solidFill>
                <a:latin typeface="Consolas"/>
              </a:rPr>
              <a:t>3c7d9e1 Merge pull request #7 from nour-dev/feature/nour-card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4146420"/>
            <a:ext cx="11112119" cy="73406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</a:t>
            </a:r>
            <a:r>
              <a:rPr sz="1700" b="0">
                <a:solidFill>
                  <a:srgbClr val="22303F"/>
                </a:solidFill>
                <a:latin typeface="Consolas"/>
                <a:cs typeface="Consolas"/>
              </a:rPr>
              <a:t>behind 2</a:t>
            </a: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 = عند الزملاء التزامان لم تجلبهما بعد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العادة الاحترافية: افحص بـ fetch ثم اقرأ، ثم ادمج بوعي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62000"/>
            <a:ext cx="8952119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Cairo"/>
                <a:cs typeface="Cairo"/>
              </a:rPr>
              <a:t>حالات ستراها كثيراً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16000"/>
            <a:ext cx="11112119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0">
                <a:solidFill>
                  <a:srgbClr val="9FC0E6"/>
                </a:solidFill>
                <a:latin typeface="Segoe UI"/>
                <a:cs typeface="Segoe UI"/>
              </a:rPr>
              <a:t>الجلسة 04 — المزامنة والدمج · 5/13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0000" y="1080000"/>
          <a:ext cx="11112119" cy="1881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4039"/>
                <a:gridCol w="3704039"/>
                <a:gridCol w="3704041"/>
              </a:tblGrid>
              <a:tr h="37635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iro"/>
                          <a:cs typeface="Cairo"/>
                        </a:rPr>
                        <a:t>الحالة في git status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iro"/>
                          <a:cs typeface="Cairo"/>
                        </a:rPr>
                        <a:t>المعنى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iro"/>
                          <a:cs typeface="Cairo"/>
                        </a:rPr>
                        <a:t>الأمر السليم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76350"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ahead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عندك التزامات غير مرفوعة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git push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6350"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behind 3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عند الزملاء التزامات لم تجلبها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git pull --ff-only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</a:tr>
              <a:tr h="376350"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ahead 1, behind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التاريخان افترقا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git pull --rebase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6350"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diverged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افتراق ثم محاولة دفع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pull --rebase ثم push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0000" y="3069750"/>
            <a:ext cx="11112119" cy="556799"/>
          </a:xfrm>
          <a:prstGeom prst="roundRect">
            <a:avLst>
              <a:gd name="adj" fmla="val 6000"/>
            </a:avLst>
          </a:prstGeom>
          <a:solidFill>
            <a:srgbClr val="E6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5999" y="3177750"/>
            <a:ext cx="10860120" cy="3767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0">
                <a:solidFill>
                  <a:srgbClr val="0A5D5C"/>
                </a:solidFill>
                <a:latin typeface="Cairo"/>
                <a:cs typeface="Cairo"/>
              </a:rPr>
              <a:t>تصفية الحالة: </a:t>
            </a:r>
            <a:r>
              <a:rPr sz="1500" b="0">
                <a:solidFill>
                  <a:srgbClr val="0A5D5C"/>
                </a:solidFill>
                <a:latin typeface="Consolas"/>
                <a:cs typeface="Consolas"/>
              </a:rPr>
              <a:t>git status -sb</a:t>
            </a:r>
            <a:r>
              <a:rPr sz="1500" b="0">
                <a:solidFill>
                  <a:srgbClr val="0A5D5C"/>
                </a:solidFill>
                <a:latin typeface="Cairo"/>
                <a:cs typeface="Cairo"/>
              </a:rPr>
              <a:t> — سطر واحد يخبرك بكل شيء، قبل أي أمر آخر.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62000"/>
            <a:ext cx="8952119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Cairo"/>
                <a:cs typeface="Cairo"/>
              </a:rPr>
              <a:t>المهمة 2 — أنواع الدمج الثلاثة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16000"/>
            <a:ext cx="11112119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0">
                <a:solidFill>
                  <a:srgbClr val="9FC0E6"/>
                </a:solidFill>
                <a:latin typeface="Segoe UI"/>
                <a:cs typeface="Segoe UI"/>
              </a:rPr>
              <a:t>الجلسة 04 — المزامنة والدمج · 6/13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080000"/>
            <a:ext cx="11112119" cy="339149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1260000"/>
            <a:ext cx="10752119" cy="30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7D8CA3"/>
                </a:solidFill>
                <a:latin typeface="Consolas"/>
              </a:rPr>
              <a:t># 1) دمج سريع (لا عمل متبادل):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7FD1A8"/>
                </a:solidFill>
                <a:latin typeface="Consolas"/>
              </a:rPr>
              <a:t>$ git merge --ff-only origin/main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E6EDF7"/>
                </a:solidFill>
                <a:latin typeface="Consolas"/>
              </a:rPr>
              <a:t>Updating a1b2c3d..f9e8d7c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E6EDF7"/>
                </a:solidFill>
                <a:latin typeface="Consolas"/>
              </a:rPr>
              <a:t>Fast-forward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E6EDF7"/>
                </a:solidFill>
                <a:latin typeface="Consolas"/>
              </a:rPr>
              <a:t/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7D8CA3"/>
                </a:solidFill>
                <a:latin typeface="Consolas"/>
              </a:rPr>
              <a:t># 2) دمج بعقدة (عمل متبادل):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7FD1A8"/>
                </a:solidFill>
                <a:latin typeface="Consolas"/>
              </a:rPr>
              <a:t>$ git merge feature/omar-qa-card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E6EDF7"/>
                </a:solidFill>
                <a:latin typeface="Consolas"/>
              </a:rPr>
              <a:t>Merge made by the 'ort' strategy.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E6EDF7"/>
                </a:solidFill>
                <a:latin typeface="Consolas"/>
              </a:rPr>
              <a:t> 1 file changed, 9 insertions(+)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E6EDF7"/>
                </a:solidFill>
                <a:latin typeface="Consolas"/>
              </a:rPr>
              <a:t/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7D8CA3"/>
                </a:solidFill>
                <a:latin typeface="Consolas"/>
              </a:rPr>
              <a:t># 3) الدمج المضغوط: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7FD1A8"/>
                </a:solidFill>
                <a:latin typeface="Consolas"/>
              </a:rPr>
              <a:t>$ git merge --squash feature/sara-fixes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E6EDF7"/>
                </a:solidFill>
                <a:latin typeface="Consolas"/>
              </a:rPr>
              <a:t>Squash commit -- not updating HEAD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7FD1A8"/>
                </a:solidFill>
                <a:latin typeface="Consolas"/>
              </a:rPr>
              <a:t>$ git commit -m "feat(ui): improve member card layout (#9)"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62000"/>
            <a:ext cx="8952119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Cairo"/>
                <a:cs typeface="Cairo"/>
              </a:rPr>
              <a:t>أي استراتيجية نختار؟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16000"/>
            <a:ext cx="11112119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0">
                <a:solidFill>
                  <a:srgbClr val="9FC0E6"/>
                </a:solidFill>
                <a:latin typeface="Segoe UI"/>
                <a:cs typeface="Segoe UI"/>
              </a:rPr>
              <a:t>الجلسة 04 — المزامنة والدمج · 7/13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0000" y="1080000"/>
          <a:ext cx="11112119" cy="151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4039"/>
                <a:gridCol w="3704039"/>
                <a:gridCol w="3704041"/>
              </a:tblGrid>
              <a:tr h="37995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iro"/>
                          <a:cs typeface="Cairo"/>
                        </a:rPr>
                        <a:t>الاستراتيجية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iro"/>
                          <a:cs typeface="Cairo"/>
                        </a:rPr>
                        <a:t>شكل التاريخ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iro"/>
                          <a:cs typeface="Cairo"/>
                        </a:rPr>
                        <a:t>متى نستخدمها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79950"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Merge commit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فروع وعُقد واضحة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فرع طويل بمهام متعددة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9950"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Squash and merge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التزام واحد نظيف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فرع صغير أو إصلاحات متتابعة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</a:tr>
              <a:tr h="379950"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Rebase and merge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خط مستقيم بلا عُقد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تاريخ خطّي للمراجعة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0000" y="2707800"/>
            <a:ext cx="11112119" cy="556799"/>
          </a:xfrm>
          <a:prstGeom prst="roundRect">
            <a:avLst>
              <a:gd name="adj" fmla="val 6000"/>
            </a:avLst>
          </a:prstGeom>
          <a:solidFill>
            <a:srgbClr val="F7F4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5999" y="2815800"/>
            <a:ext cx="10860120" cy="3767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0">
                <a:solidFill>
                  <a:srgbClr val="4B2683"/>
                </a:solidFill>
                <a:latin typeface="Cairo"/>
                <a:cs typeface="Cairo"/>
              </a:rPr>
              <a:t>القاعدة: </a:t>
            </a:r>
            <a:r>
              <a:rPr sz="1500" b="1">
                <a:solidFill>
                  <a:srgbClr val="4B2683"/>
                </a:solidFill>
                <a:latin typeface="Cairo"/>
                <a:cs typeface="Cairo"/>
              </a:rPr>
              <a:t>rebase للفروع الشخصية فقط، merge للفروع المشتركة.</a:t>
            </a:r>
            <a:r>
              <a:rPr sz="1500" b="0">
                <a:solidFill>
                  <a:srgbClr val="4B2683"/>
                </a:solidFill>
                <a:latin typeface="Cairo"/>
                <a:cs typeface="Cairo"/>
              </a:rPr>
              <a:t> إعادة تشكيل فرع يعمل عليه زميل تُتلف عمله.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62000"/>
            <a:ext cx="8952119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Cairo"/>
                <a:cs typeface="Cairo"/>
              </a:rPr>
              <a:t>المهمة 4 — افحص تعديلات زملائك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16000"/>
            <a:ext cx="11112119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0">
                <a:solidFill>
                  <a:srgbClr val="9FC0E6"/>
                </a:solidFill>
                <a:latin typeface="Segoe UI"/>
                <a:cs typeface="Segoe UI"/>
              </a:rPr>
              <a:t>الجلسة 04 — المزامنة والدمج · 8/13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080000"/>
            <a:ext cx="11112119" cy="1639525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1260000"/>
            <a:ext cx="10752119" cy="1279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FD1A8"/>
                </a:solidFill>
                <a:latin typeface="Consolas"/>
              </a:rPr>
              <a:t>$ git log --oneline --all --graph --decorate -8   # شجرة الفريق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FD1A8"/>
                </a:solidFill>
                <a:latin typeface="Consolas"/>
              </a:rPr>
              <a:t>$ git log -p -- data/members/leen-docs.json       # تاريخ ملف واحد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FD1A8"/>
                </a:solidFill>
                <a:latin typeface="Consolas"/>
              </a:rPr>
              <a:t>$ git blame data/members/leen-docs.json           # من كتب كل سطر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FD1A8"/>
                </a:solidFill>
                <a:latin typeface="Consolas"/>
              </a:rPr>
              <a:t>$ git shortlog -sn --all                          # ترتيب المساهمين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FD1A8"/>
                </a:solidFill>
                <a:latin typeface="Consolas"/>
              </a:rPr>
              <a:t>$ git diff main..feature/x --stat                 # ما سيدخل فعلاً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2827525"/>
            <a:ext cx="11112119" cy="73406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سؤال: أي ملف عدّله </a:t>
            </a:r>
            <a:r>
              <a:rPr sz="1700" b="1">
                <a:solidFill>
                  <a:srgbClr val="22303F"/>
                </a:solidFill>
                <a:latin typeface="Cairo"/>
                <a:cs typeface="Cairo"/>
              </a:rPr>
              <a:t>كل</a:t>
            </a: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 الأعضاء؟ الجواب: </a:t>
            </a:r>
            <a:r>
              <a:rPr sz="1700" b="0">
                <a:solidFill>
                  <a:srgbClr val="22303F"/>
                </a:solidFill>
                <a:latin typeface="Consolas"/>
                <a:cs typeface="Consolas"/>
              </a:rPr>
              <a:t>data/members-index.json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ولهذا هو مُولَّد آلياً: لا يُكتب يدوياً ولا يُحلّ تعارضه يدوياً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62000"/>
            <a:ext cx="8952119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Cairo"/>
                <a:cs typeface="Cairo"/>
              </a:rPr>
              <a:t>المهمة 5 — مختبر التراجع الآمن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16000"/>
            <a:ext cx="11112119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0">
                <a:solidFill>
                  <a:srgbClr val="9FC0E6"/>
                </a:solidFill>
                <a:latin typeface="Segoe UI"/>
                <a:cs typeface="Segoe UI"/>
              </a:rPr>
              <a:t>الجلسة 04 — المزامنة والدمج · 9/13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0000" y="1080000"/>
          <a:ext cx="11112119" cy="2605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4039"/>
                <a:gridCol w="3704039"/>
                <a:gridCol w="3704041"/>
              </a:tblGrid>
              <a:tr h="372235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iro"/>
                          <a:cs typeface="Cairo"/>
                        </a:rPr>
                        <a:t>الحالة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iro"/>
                          <a:cs typeface="Cairo"/>
                        </a:rPr>
                        <a:t>الأمر الصحيح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iro"/>
                          <a:cs typeface="Cairo"/>
                        </a:rPr>
                        <a:t>يحذف عملاً؟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72235"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تعديل غير مُلتزم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git restore &lt;file&gt;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نعم (هو المقصود)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2235"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ملف مُمرَّر للمرحلة خطأً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git restore --staged &lt;file&gt;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لا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</a:tr>
              <a:tr h="372235"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آخر التزام لم يُرفع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git commit --amend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لا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2235"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التزام مرفوع خاطئ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git revert &lt;sha&gt;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لا (يعكسه)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</a:tr>
              <a:tr h="372235"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تبديل فرع وعملك ناقص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git stash ثم git stash pop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لا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2240"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حذفت شيئاً ولا تدري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git reflog ثم switch -c rescue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لا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62000"/>
            <a:ext cx="8952119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Cairo"/>
                <a:cs typeface="Cairo"/>
              </a:rPr>
              <a:t>لماذا revert لا reset على التاريخ المشترك؟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16000"/>
            <a:ext cx="11112119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0">
                <a:solidFill>
                  <a:srgbClr val="9FC0E6"/>
                </a:solidFill>
                <a:latin typeface="Segoe UI"/>
                <a:cs typeface="Segoe UI"/>
              </a:rPr>
              <a:t>الجلسة 04 — المزامنة والدمج · 10/13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080000"/>
            <a:ext cx="11112119" cy="2151335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1260000"/>
            <a:ext cx="10752119" cy="1791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FD1A8"/>
                </a:solidFill>
                <a:latin typeface="Consolas"/>
              </a:rPr>
              <a:t>$ git revert --no-edit 8de1e7a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[main 6f7e8d9] Revert "feat(ui): change card colors"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/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FD1A8"/>
                </a:solidFill>
                <a:latin typeface="Consolas"/>
              </a:rPr>
              <a:t>$ git log --oneline -3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6f7e8d9 (HEAD -&gt; main) Revert "feat(ui): change card colors"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2b3c4d5 docs(readme): add FAQ section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8de1e7a feat(ui): change card colors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3339335"/>
            <a:ext cx="11112119" cy="73406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</a:t>
            </a:r>
            <a:r>
              <a:rPr sz="1700" b="0">
                <a:solidFill>
                  <a:srgbClr val="22303F"/>
                </a:solidFill>
                <a:latin typeface="Consolas"/>
                <a:cs typeface="Consolas"/>
              </a:rPr>
              <a:t>revert</a:t>
            </a: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 ينشئ التزاماً جديداً يعكس الأول ← التاريخ يبقى صحيحاً لكل من سحب المشروع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</a:t>
            </a:r>
            <a:r>
              <a:rPr sz="1700" b="0">
                <a:solidFill>
                  <a:srgbClr val="22303F"/>
                </a:solidFill>
                <a:latin typeface="Consolas"/>
                <a:cs typeface="Consolas"/>
              </a:rPr>
              <a:t>reset --hard</a:t>
            </a: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 يحذف الالتزامات ← من بنى عليها عملاً ينهار مشروعه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62000"/>
            <a:ext cx="8952119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Cairo"/>
                <a:cs typeface="Cairo"/>
              </a:rPr>
              <a:t>شبكة الأمان الأخيرة: reflog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16000"/>
            <a:ext cx="11112119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0">
                <a:solidFill>
                  <a:srgbClr val="9FC0E6"/>
                </a:solidFill>
                <a:latin typeface="Segoe UI"/>
                <a:cs typeface="Segoe UI"/>
              </a:rPr>
              <a:t>الجلسة 04 — المزامنة والدمج · 11/13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080000"/>
            <a:ext cx="11112119" cy="2151335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1260000"/>
            <a:ext cx="10752119" cy="1791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FD1A8"/>
                </a:solidFill>
                <a:latin typeface="Consolas"/>
              </a:rPr>
              <a:t>$ git reflog -5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6f7e8d9 HEAD@{0}: revert: Revert "feat(ui): change card colors"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2b3c4d5 HEAD@{1}: commit (amend): docs(readme): add FAQ section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1e1682a HEAD@{2}: commit: docs(readme): add faq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5aaeef2 HEAD@{3}: reset: moving to origin/main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/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FD1A8"/>
                </a:solidFill>
                <a:latin typeface="Consolas"/>
              </a:rPr>
              <a:t>$ git switch -c rescue 5aaeef2      # استرجاع أي حالة سابقة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000" y="3339335"/>
            <a:ext cx="11112119" cy="556799"/>
          </a:xfrm>
          <a:prstGeom prst="roundRect">
            <a:avLst>
              <a:gd name="adj" fmla="val 6000"/>
            </a:avLst>
          </a:prstGeom>
          <a:solidFill>
            <a:srgbClr val="E6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5999" y="3447335"/>
            <a:ext cx="10860120" cy="3767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0">
                <a:solidFill>
                  <a:srgbClr val="0A5D5C"/>
                </a:solidFill>
                <a:latin typeface="Consolas"/>
                <a:cs typeface="Consolas"/>
              </a:rPr>
              <a:t>reflog</a:t>
            </a:r>
            <a:r>
              <a:rPr sz="1500" b="0">
                <a:solidFill>
                  <a:srgbClr val="0A5D5C"/>
                </a:solidFill>
                <a:latin typeface="Cairo"/>
                <a:cs typeface="Cairo"/>
              </a:rPr>
              <a:t> سجل </a:t>
            </a:r>
            <a:r>
              <a:rPr sz="1500" b="1">
                <a:solidFill>
                  <a:srgbClr val="0A5D5C"/>
                </a:solidFill>
                <a:latin typeface="Cairo"/>
                <a:cs typeface="Cairo"/>
              </a:rPr>
              <a:t>محلي</a:t>
            </a:r>
            <a:r>
              <a:rPr sz="1500" b="0">
                <a:solidFill>
                  <a:srgbClr val="0A5D5C"/>
                </a:solidFill>
                <a:latin typeface="Cairo"/>
                <a:cs typeface="Cairo"/>
              </a:rPr>
              <a:t> لا يُرفع إلى GitHub — فهو ينقذك على جهازك، لكنه لا ينقذ زميلاً على جهاز آخر.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62000"/>
            <a:ext cx="8952119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Cairo"/>
                <a:cs typeface="Cairo"/>
              </a:rPr>
              <a:t>المهمة 6 — نظّف فروعك بأمان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16000"/>
            <a:ext cx="11112119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0">
                <a:solidFill>
                  <a:srgbClr val="9FC0E6"/>
                </a:solidFill>
                <a:latin typeface="Segoe UI"/>
                <a:cs typeface="Segoe UI"/>
              </a:rPr>
              <a:t>الجلسة 04 — المزامنة والدمج · 12/13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080000"/>
            <a:ext cx="11112119" cy="291905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1260000"/>
            <a:ext cx="10752119" cy="2559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FD1A8"/>
                </a:solidFill>
                <a:latin typeface="Consolas"/>
              </a:rPr>
              <a:t>$ git branch --merged main        # الفروع التي اندمج عملها فعلاً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  feature/ali-card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  feature/leen-card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* main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/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FD1A8"/>
                </a:solidFill>
                <a:latin typeface="Consolas"/>
              </a:rPr>
              <a:t>$ git branch -d feature/ali-card feature/leen-card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Deleted branch feature/ali-card (was 1a2b3c4).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/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FD1A8"/>
                </a:solidFill>
                <a:latin typeface="Consolas"/>
              </a:rPr>
              <a:t>$ git fetch --prune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E6EDF7"/>
                </a:solidFill>
                <a:latin typeface="Consolas"/>
              </a:rPr>
              <a:t> - [deleted]         (none)     -&gt; origin/feature/ali-card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000" y="4107050"/>
            <a:ext cx="11112119" cy="556799"/>
          </a:xfrm>
          <a:prstGeom prst="roundRect">
            <a:avLst>
              <a:gd name="adj" fmla="val 6000"/>
            </a:avLst>
          </a:prstGeom>
          <a:solidFill>
            <a:srgbClr val="FF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5999" y="4215050"/>
            <a:ext cx="10860120" cy="3767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0">
                <a:solidFill>
                  <a:srgbClr val="8A5A06"/>
                </a:solidFill>
                <a:latin typeface="Cairo"/>
                <a:cs typeface="Cairo"/>
              </a:rPr>
              <a:t>احذف الفروع المدموجة فقط. الفرع غير المدموج يحتاج </a:t>
            </a:r>
            <a:r>
              <a:rPr sz="1500" b="0">
                <a:solidFill>
                  <a:srgbClr val="8A5A06"/>
                </a:solidFill>
                <a:latin typeface="Consolas"/>
                <a:cs typeface="Consolas"/>
              </a:rPr>
              <a:t>-D</a:t>
            </a:r>
            <a:r>
              <a:rPr sz="1500" b="0">
                <a:solidFill>
                  <a:srgbClr val="8A5A06"/>
                </a:solidFill>
                <a:latin typeface="Cairo"/>
                <a:cs typeface="Cairo"/>
              </a:rPr>
              <a:t> (حذف قسري) — لا تستخدمه إلا بعد التأكد أن عملك محفوظ أو مرفوع.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62000"/>
            <a:ext cx="8952119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Cairo"/>
                <a:cs typeface="Cairo"/>
              </a:rPr>
              <a:t>قبل الجلسة القادمة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16000"/>
            <a:ext cx="11112119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0">
                <a:solidFill>
                  <a:srgbClr val="9FC0E6"/>
                </a:solidFill>
                <a:latin typeface="Segoe UI"/>
                <a:cs typeface="Segoe UI"/>
              </a:rPr>
              <a:t>الجلسة 04 — المزامنة والدمج · 13/13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080000"/>
            <a:ext cx="11112119" cy="183515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</a:t>
            </a:r>
            <a:r>
              <a:rPr sz="1700" b="0">
                <a:solidFill>
                  <a:srgbClr val="22303F"/>
                </a:solidFill>
                <a:latin typeface="Consolas"/>
                <a:cs typeface="Consolas"/>
              </a:rPr>
              <a:t>main</a:t>
            </a: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 عندك محدَّث ومساوٍ لـ </a:t>
            </a:r>
            <a:r>
              <a:rPr sz="1700" b="0">
                <a:solidFill>
                  <a:srgbClr val="22303F"/>
                </a:solidFill>
                <a:latin typeface="Consolas"/>
                <a:cs typeface="Consolas"/>
              </a:rPr>
              <a:t>origin/main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نفّذت الدمج بالاستراتيجيات الثلاث وتعرف الفرق بينها عملياً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جرّبت </a:t>
            </a:r>
            <a:r>
              <a:rPr sz="1700" b="0">
                <a:solidFill>
                  <a:srgbClr val="22303F"/>
                </a:solidFill>
                <a:latin typeface="Consolas"/>
                <a:cs typeface="Consolas"/>
              </a:rPr>
              <a:t>stash</a:t>
            </a: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 و</a:t>
            </a:r>
            <a:r>
              <a:rPr sz="1700" b="0">
                <a:solidFill>
                  <a:srgbClr val="22303F"/>
                </a:solidFill>
                <a:latin typeface="Consolas"/>
                <a:cs typeface="Consolas"/>
              </a:rPr>
              <a:t>amend</a:t>
            </a: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 و</a:t>
            </a:r>
            <a:r>
              <a:rPr sz="1700" b="0">
                <a:solidFill>
                  <a:srgbClr val="22303F"/>
                </a:solidFill>
                <a:latin typeface="Consolas"/>
                <a:cs typeface="Consolas"/>
              </a:rPr>
              <a:t>revert</a:t>
            </a: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 و</a:t>
            </a:r>
            <a:r>
              <a:rPr sz="1700" b="0">
                <a:solidFill>
                  <a:srgbClr val="22303F"/>
                </a:solidFill>
                <a:latin typeface="Consolas"/>
                <a:cs typeface="Consolas"/>
              </a:rPr>
              <a:t>reflog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تقرير الفريق مملوء بالأرقام الحقيقية من المستودع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الجلسة القادمة: </a:t>
            </a:r>
            <a:r>
              <a:rPr sz="1700" b="1">
                <a:solidFill>
                  <a:srgbClr val="22303F"/>
                </a:solidFill>
                <a:latin typeface="Cairo"/>
                <a:cs typeface="Cairo"/>
              </a:rPr>
              <a:t>التعارضات والنشر</a:t>
            </a: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 — سنصنع تعارضاً عن قصد ونحلّه، ثم ننشر الموقع للعالم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0000" y="3023150"/>
            <a:ext cx="11112119" cy="556799"/>
          </a:xfrm>
          <a:prstGeom prst="roundRect">
            <a:avLst>
              <a:gd name="adj" fmla="val 6000"/>
            </a:avLst>
          </a:prstGeom>
          <a:solidFill>
            <a:srgbClr val="E7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5999" y="3131150"/>
            <a:ext cx="10860120" cy="3767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0">
                <a:solidFill>
                  <a:srgbClr val="0B6244"/>
                </a:solidFill>
                <a:latin typeface="Cairo"/>
                <a:cs typeface="Cairo"/>
              </a:rPr>
              <a:t>تذكّر: التعارض ليس خطأً. هو رسالة من Git تقول «هنا تعديلان، اختر أنت» — والجلسة القادمة تجعل هذا الاختيار سهلاً.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