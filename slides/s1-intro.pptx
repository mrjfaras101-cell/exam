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122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22000"/>
            <a:ext cx="12192119" cy="936000"/>
          </a:xfrm>
          <a:prstGeom prst="rect">
            <a:avLst/>
          </a:prstGeom>
          <a:solidFill>
            <a:srgbClr val="E862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0000" y="1655999"/>
            <a:ext cx="11112119" cy="792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500" b="0">
                <a:solidFill>
                  <a:srgbClr val="9FC0E6"/>
                </a:solidFill>
                <a:latin typeface="Cairo"/>
                <a:cs typeface="Cairo"/>
              </a:rPr>
              <a:t>ورشة GIT وGITHUB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2376000"/>
            <a:ext cx="11112119" cy="1512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 rtl="1">
              <a:lnSpc>
                <a:spcPct val="115000"/>
              </a:lnSpc>
            </a:pPr>
            <a:r>
              <a:rPr sz="4000" b="1">
                <a:solidFill>
                  <a:srgbClr val="FFFFFF"/>
                </a:solidFill>
                <a:latin typeface="Cairo"/>
                <a:cs typeface="Cairo"/>
              </a:rPr>
              <a:t>التهيئة والتعريف بـ Git وGitHub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4031999"/>
            <a:ext cx="11112119" cy="576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800" b="0">
                <a:solidFill>
                  <a:srgbClr val="D3E2F2"/>
                </a:solidFill>
                <a:latin typeface="Segoe UI"/>
                <a:cs typeface="Segoe UI"/>
              </a:rPr>
              <a:t>Session 01 · Setup &amp; Orientation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6066000"/>
            <a:ext cx="11112119" cy="503999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ctr" rtl="1">
              <a:lnSpc>
                <a:spcPct val="125000"/>
              </a:lnSpc>
            </a:pPr>
            <a:r>
              <a:rPr sz="1300" b="0">
                <a:solidFill>
                  <a:srgbClr val="FFFFFF"/>
                </a:solidFill>
                <a:latin typeface="Cairo"/>
                <a:cs typeface="Cairo"/>
              </a:rPr>
              <a:t>ورشة Git وGitHub · الجلسة 01 — التهيئة والتعريف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827999"/>
          </a:xfrm>
          <a:prstGeom prst="rect">
            <a:avLst/>
          </a:prstGeom>
          <a:solidFill>
            <a:srgbClr val="122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62000"/>
            <a:ext cx="8952119" cy="54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2100" b="1">
                <a:solidFill>
                  <a:srgbClr val="FFFFFF"/>
                </a:solidFill>
                <a:latin typeface="Cairo"/>
                <a:cs typeface="Cairo"/>
              </a:rPr>
              <a:t>ماذا سنبني معاً؟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216000"/>
            <a:ext cx="11112119" cy="432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 rtl="1">
              <a:lnSpc>
                <a:spcPct val="125000"/>
              </a:lnSpc>
            </a:pPr>
            <a:r>
              <a:rPr sz="1100" b="0">
                <a:solidFill>
                  <a:srgbClr val="9FC0E6"/>
                </a:solidFill>
                <a:latin typeface="Segoe UI"/>
                <a:cs typeface="Segoe UI"/>
              </a:rPr>
              <a:t>الجلسة 01 — التهيئة والتعريف · 2/11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1080000"/>
            <a:ext cx="11112119" cy="146812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700" b="0">
                <a:solidFill>
                  <a:srgbClr val="22303F"/>
                </a:solidFill>
                <a:latin typeface="Cairo"/>
                <a:cs typeface="Cairo"/>
              </a:rPr>
              <a:t>• موقع ويب حقيقي على الإنترنت اسمه «دليل فريق الصف»</a:t>
            </a:r>
          </a:p>
          <a:p>
            <a:pPr algn="r" rtl="1">
              <a:lnSpc>
                <a:spcPct val="130000"/>
              </a:lnSpc>
            </a:pPr>
            <a:r>
              <a:rPr sz="1700" b="0">
                <a:solidFill>
                  <a:srgbClr val="22303F"/>
                </a:solidFill>
                <a:latin typeface="Cairo"/>
                <a:cs typeface="Cairo"/>
              </a:rPr>
              <a:t>• كل طالب يضيف بطاقة تعريفية له بنفسه</a:t>
            </a:r>
          </a:p>
          <a:p>
            <a:pPr algn="r" rtl="1">
              <a:lnSpc>
                <a:spcPct val="130000"/>
              </a:lnSpc>
            </a:pPr>
            <a:r>
              <a:rPr sz="1700" b="0">
                <a:solidFill>
                  <a:srgbClr val="22303F"/>
                </a:solidFill>
                <a:latin typeface="Cairo"/>
                <a:cs typeface="Cairo"/>
              </a:rPr>
              <a:t>• نرى البطاقات تتراكم واحداً بعد آخر حتى يصبح الموقع لوحة كاملة للفريق</a:t>
            </a:r>
          </a:p>
          <a:p>
            <a:pPr algn="r" rtl="1">
              <a:lnSpc>
                <a:spcPct val="130000"/>
              </a:lnSpc>
            </a:pPr>
            <a:r>
              <a:rPr sz="1700" b="0">
                <a:solidFill>
                  <a:srgbClr val="22303F"/>
                </a:solidFill>
                <a:latin typeface="Cairo"/>
                <a:cs typeface="Cairo"/>
              </a:rPr>
              <a:t>• النهاية: رابط عام يفتحه أي شخص ويرى فيه اسمك ودورك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0000" y="2656120"/>
            <a:ext cx="11112119" cy="556799"/>
          </a:xfrm>
          <a:prstGeom prst="roundRect">
            <a:avLst>
              <a:gd name="adj" fmla="val 6000"/>
            </a:avLst>
          </a:prstGeom>
          <a:solidFill>
            <a:srgbClr val="E6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5999" y="2764120"/>
            <a:ext cx="10860120" cy="376799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500" b="0">
                <a:solidFill>
                  <a:srgbClr val="0A5D5C"/>
                </a:solidFill>
                <a:latin typeface="Cairo"/>
                <a:cs typeface="Cairo"/>
              </a:rPr>
              <a:t>البرنامج كله مبني على مشروع واحد: تتعلم Git لأنك تحتاجه فعلاً، لا لأن هناك واجباً.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827999"/>
          </a:xfrm>
          <a:prstGeom prst="rect">
            <a:avLst/>
          </a:prstGeom>
          <a:solidFill>
            <a:srgbClr val="122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62000"/>
            <a:ext cx="8952119" cy="54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2100" b="1">
                <a:solidFill>
                  <a:srgbClr val="FFFFFF"/>
                </a:solidFill>
                <a:latin typeface="Cairo"/>
                <a:cs typeface="Cairo"/>
              </a:rPr>
              <a:t>ما الفرق بين Git وGitHub؟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216000"/>
            <a:ext cx="11112119" cy="432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 rtl="1">
              <a:lnSpc>
                <a:spcPct val="125000"/>
              </a:lnSpc>
            </a:pPr>
            <a:r>
              <a:rPr sz="1100" b="0">
                <a:solidFill>
                  <a:srgbClr val="9FC0E6"/>
                </a:solidFill>
                <a:latin typeface="Segoe UI"/>
                <a:cs typeface="Segoe UI"/>
              </a:rPr>
              <a:t>الجلسة 01 — التهيئة والتعريف · 3/11</a:t>
            </a:r>
          </a:p>
        </p:txBody>
      </p:sp>
      <p:pic>
        <p:nvPicPr>
          <p:cNvPr id="5" name="Picture 4" descr="git-vs-githu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00" y="1080000"/>
            <a:ext cx="11112119" cy="374150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827999"/>
          </a:xfrm>
          <a:prstGeom prst="rect">
            <a:avLst/>
          </a:prstGeom>
          <a:solidFill>
            <a:srgbClr val="122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62000"/>
            <a:ext cx="8952119" cy="54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2100" b="1">
                <a:solidFill>
                  <a:srgbClr val="FFFFFF"/>
                </a:solidFill>
                <a:latin typeface="Cairo"/>
                <a:cs typeface="Cairo"/>
              </a:rPr>
              <a:t>العلاقة بينهما في جملة واحدة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216000"/>
            <a:ext cx="11112119" cy="432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 rtl="1">
              <a:lnSpc>
                <a:spcPct val="125000"/>
              </a:lnSpc>
            </a:pPr>
            <a:r>
              <a:rPr sz="1100" b="0">
                <a:solidFill>
                  <a:srgbClr val="9FC0E6"/>
                </a:solidFill>
                <a:latin typeface="Segoe UI"/>
                <a:cs typeface="Segoe UI"/>
              </a:rPr>
              <a:t>الجلسة 01 — التهيئة والتعريف · 4/11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1080000"/>
            <a:ext cx="11112119" cy="146812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700" b="0">
                <a:solidFill>
                  <a:srgbClr val="22303F"/>
                </a:solidFill>
                <a:latin typeface="Cairo"/>
                <a:cs typeface="Cairo"/>
              </a:rPr>
              <a:t>• Git هو المحرّك: برنامج على جهازك يسجّل التغييرات ويدير الفروع</a:t>
            </a:r>
          </a:p>
          <a:p>
            <a:pPr algn="r" rtl="1">
              <a:lnSpc>
                <a:spcPct val="130000"/>
              </a:lnSpc>
            </a:pPr>
            <a:r>
              <a:rPr sz="1700" b="0">
                <a:solidFill>
                  <a:srgbClr val="22303F"/>
                </a:solidFill>
                <a:latin typeface="Cairo"/>
                <a:cs typeface="Cairo"/>
              </a:rPr>
              <a:t>• GitHub هو المكان: خدمة على الإنترنت يستضيف المستودعات ويضيف التعاون</a:t>
            </a:r>
          </a:p>
          <a:p>
            <a:pPr algn="r" rtl="1">
              <a:lnSpc>
                <a:spcPct val="130000"/>
              </a:lnSpc>
            </a:pPr>
            <a:r>
              <a:rPr sz="1700" b="0">
                <a:solidFill>
                  <a:srgbClr val="22303F"/>
                </a:solidFill>
                <a:latin typeface="Cairo"/>
                <a:cs typeface="Cairo"/>
              </a:rPr>
              <a:t>• لا يعمل أحدهما بدل الآخر: بدون Git لا تعمل من الطرفية، وبدون GitHub لا يعمل الفريق معاً</a:t>
            </a:r>
          </a:p>
          <a:p>
            <a:pPr algn="r" rtl="1">
              <a:lnSpc>
                <a:spcPct val="130000"/>
              </a:lnSpc>
            </a:pPr>
            <a:r>
              <a:rPr sz="1700" b="0">
                <a:solidFill>
                  <a:srgbClr val="22303F"/>
                </a:solidFill>
                <a:latin typeface="Cairo"/>
                <a:cs typeface="Cairo"/>
              </a:rPr>
              <a:t>• سؤال سريع: الأمر </a:t>
            </a:r>
            <a:r>
              <a:rPr sz="1700" b="0">
                <a:solidFill>
                  <a:srgbClr val="22303F"/>
                </a:solidFill>
                <a:latin typeface="Consolas"/>
                <a:cs typeface="Consolas"/>
              </a:rPr>
              <a:t>git status</a:t>
            </a:r>
            <a:r>
              <a:rPr sz="1700" b="0">
                <a:solidFill>
                  <a:srgbClr val="22303F"/>
                </a:solidFill>
                <a:latin typeface="Cairo"/>
                <a:cs typeface="Cairo"/>
              </a:rPr>
              <a:t> أين يعمل؟ — على جهازك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0000" y="2656120"/>
            <a:ext cx="11112119" cy="556799"/>
          </a:xfrm>
          <a:prstGeom prst="roundRect">
            <a:avLst>
              <a:gd name="adj" fmla="val 6000"/>
            </a:avLst>
          </a:prstGeom>
          <a:solidFill>
            <a:srgbClr val="EEF4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5999" y="2764120"/>
            <a:ext cx="10860120" cy="376799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500" b="0">
                <a:solidFill>
                  <a:srgbClr val="1C4B86"/>
                </a:solidFill>
                <a:latin typeface="Cairo"/>
                <a:cs typeface="Cairo"/>
              </a:rPr>
              <a:t>اختبر نفسك: أي الأمرين يحتاج إنترنت؟ </a:t>
            </a:r>
            <a:r>
              <a:rPr sz="1500" b="0">
                <a:solidFill>
                  <a:srgbClr val="1C4B86"/>
                </a:solidFill>
                <a:latin typeface="Consolas"/>
                <a:cs typeface="Consolas"/>
              </a:rPr>
              <a:t>git commit</a:t>
            </a:r>
            <a:r>
              <a:rPr sz="1500" b="0">
                <a:solidFill>
                  <a:srgbClr val="1C4B86"/>
                </a:solidFill>
                <a:latin typeface="Cairo"/>
                <a:cs typeface="Cairo"/>
              </a:rPr>
              <a:t> أم </a:t>
            </a:r>
            <a:r>
              <a:rPr sz="1500" b="0">
                <a:solidFill>
                  <a:srgbClr val="1C4B86"/>
                </a:solidFill>
                <a:latin typeface="Consolas"/>
                <a:cs typeface="Consolas"/>
              </a:rPr>
              <a:t>git push</a:t>
            </a:r>
            <a:r>
              <a:rPr sz="1500" b="0">
                <a:solidFill>
                  <a:srgbClr val="1C4B86"/>
                </a:solidFill>
                <a:latin typeface="Cairo"/>
                <a:cs typeface="Cairo"/>
              </a:rPr>
              <a:t>؟ (الجواب: الثاني فقط)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827999"/>
          </a:xfrm>
          <a:prstGeom prst="rect">
            <a:avLst/>
          </a:prstGeom>
          <a:solidFill>
            <a:srgbClr val="122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62000"/>
            <a:ext cx="8952119" cy="54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2100" b="1">
                <a:solidFill>
                  <a:srgbClr val="FFFFFF"/>
                </a:solidFill>
                <a:latin typeface="Cairo"/>
                <a:cs typeface="Cairo"/>
              </a:rPr>
              <a:t>المناطق الثلاث في Git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216000"/>
            <a:ext cx="11112119" cy="432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 rtl="1">
              <a:lnSpc>
                <a:spcPct val="125000"/>
              </a:lnSpc>
            </a:pPr>
            <a:r>
              <a:rPr sz="1100" b="0">
                <a:solidFill>
                  <a:srgbClr val="9FC0E6"/>
                </a:solidFill>
                <a:latin typeface="Segoe UI"/>
                <a:cs typeface="Segoe UI"/>
              </a:rPr>
              <a:t>الجلسة 01 — التهيئة والتعريف · 5/11</a:t>
            </a:r>
          </a:p>
        </p:txBody>
      </p:sp>
      <p:pic>
        <p:nvPicPr>
          <p:cNvPr id="5" name="Picture 4" descr="flow-sta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00" y="1080000"/>
            <a:ext cx="11112119" cy="340429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827999"/>
          </a:xfrm>
          <a:prstGeom prst="rect">
            <a:avLst/>
          </a:prstGeom>
          <a:solidFill>
            <a:srgbClr val="122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62000"/>
            <a:ext cx="8952119" cy="54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2100" b="1">
                <a:solidFill>
                  <a:srgbClr val="FFFFFF"/>
                </a:solidFill>
                <a:latin typeface="Cairo"/>
                <a:cs typeface="Cairo"/>
              </a:rPr>
              <a:t>ماذا يفعل كل أمر؟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216000"/>
            <a:ext cx="11112119" cy="432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 rtl="1">
              <a:lnSpc>
                <a:spcPct val="125000"/>
              </a:lnSpc>
            </a:pPr>
            <a:r>
              <a:rPr sz="1100" b="0">
                <a:solidFill>
                  <a:srgbClr val="9FC0E6"/>
                </a:solidFill>
                <a:latin typeface="Segoe UI"/>
                <a:cs typeface="Segoe UI"/>
              </a:rPr>
              <a:t>الجلسة 01 — التهيئة والتعريف · 6/11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0000" y="1080000"/>
          <a:ext cx="11112119" cy="22437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04039"/>
                <a:gridCol w="3704039"/>
                <a:gridCol w="3704041"/>
              </a:tblGrid>
              <a:tr h="37395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iro"/>
                          <a:cs typeface="Cairo"/>
                        </a:rPr>
                        <a:t>الأمر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iro"/>
                          <a:cs typeface="Cairo"/>
                        </a:rPr>
                        <a:t>المنطقة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iro"/>
                          <a:cs typeface="Cairo"/>
                        </a:rPr>
                        <a:t>التشبيه</a:t>
                      </a:r>
                    </a:p>
                  </a:txBody>
                  <a:tcPr>
                    <a:solidFill>
                      <a:srgbClr val="1E3A5F"/>
                    </a:solidFill>
                  </a:tcPr>
                </a:tc>
              </a:tr>
              <a:tr h="373950">
                <a:tc>
                  <a:txBody>
                    <a:bodyPr/>
                    <a:lstStyle/>
                    <a:p>
                      <a:pPr algn="r"/>
                      <a:r>
                        <a:rPr sz="1250">
                          <a:solidFill>
                            <a:srgbClr val="22303F"/>
                          </a:solidFill>
                          <a:latin typeface="Cairo"/>
                          <a:cs typeface="Cairo"/>
                        </a:rPr>
                        <a:t>git status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>
                          <a:solidFill>
                            <a:srgbClr val="22303F"/>
                          </a:solidFill>
                          <a:latin typeface="Cairo"/>
                          <a:cs typeface="Cairo"/>
                        </a:rPr>
                        <a:t>لا يعدّل — يعرض الحالة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>
                          <a:solidFill>
                            <a:srgbClr val="22303F"/>
                          </a:solidFill>
                          <a:latin typeface="Cairo"/>
                          <a:cs typeface="Cairo"/>
                        </a:rPr>
                        <a:t>لوحة القيادة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3950">
                <a:tc>
                  <a:txBody>
                    <a:bodyPr/>
                    <a:lstStyle/>
                    <a:p>
                      <a:pPr algn="r"/>
                      <a:r>
                        <a:rPr sz="1250">
                          <a:solidFill>
                            <a:srgbClr val="22303F"/>
                          </a:solidFill>
                          <a:latin typeface="Cairo"/>
                          <a:cs typeface="Cairo"/>
                        </a:rPr>
                        <a:t>git add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>
                          <a:solidFill>
                            <a:srgbClr val="22303F"/>
                          </a:solidFill>
                          <a:latin typeface="Cairo"/>
                          <a:cs typeface="Cairo"/>
                        </a:rPr>
                        <a:t>إلى منطقة الانتظار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>
                          <a:solidFill>
                            <a:srgbClr val="22303F"/>
                          </a:solidFill>
                          <a:latin typeface="Cairo"/>
                          <a:cs typeface="Cairo"/>
                        </a:rPr>
                        <a:t>تحضير الطلب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</a:tr>
              <a:tr h="373950">
                <a:tc>
                  <a:txBody>
                    <a:bodyPr/>
                    <a:lstStyle/>
                    <a:p>
                      <a:pPr algn="r"/>
                      <a:r>
                        <a:rPr sz="1250">
                          <a:solidFill>
                            <a:srgbClr val="22303F"/>
                          </a:solidFill>
                          <a:latin typeface="Cairo"/>
                          <a:cs typeface="Cairo"/>
                        </a:rPr>
                        <a:t>git commit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>
                          <a:solidFill>
                            <a:srgbClr val="22303F"/>
                          </a:solidFill>
                          <a:latin typeface="Cairo"/>
                          <a:cs typeface="Cairo"/>
                        </a:rPr>
                        <a:t>إلى المستودع المحلي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>
                          <a:solidFill>
                            <a:srgbClr val="22303F"/>
                          </a:solidFill>
                          <a:latin typeface="Cairo"/>
                          <a:cs typeface="Cairo"/>
                        </a:rPr>
                        <a:t>تسليم الطلب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73950">
                <a:tc>
                  <a:txBody>
                    <a:bodyPr/>
                    <a:lstStyle/>
                    <a:p>
                      <a:pPr algn="r"/>
                      <a:r>
                        <a:rPr sz="1250">
                          <a:solidFill>
                            <a:srgbClr val="22303F"/>
                          </a:solidFill>
                          <a:latin typeface="Cairo"/>
                          <a:cs typeface="Cairo"/>
                        </a:rPr>
                        <a:t>git push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>
                          <a:solidFill>
                            <a:srgbClr val="22303F"/>
                          </a:solidFill>
                          <a:latin typeface="Cairo"/>
                          <a:cs typeface="Cairo"/>
                        </a:rPr>
                        <a:t>إلى GitHub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>
                          <a:solidFill>
                            <a:srgbClr val="22303F"/>
                          </a:solidFill>
                          <a:latin typeface="Cairo"/>
                          <a:cs typeface="Cairo"/>
                        </a:rPr>
                        <a:t>إرسال للفرع</a:t>
                      </a:r>
                    </a:p>
                  </a:txBody>
                  <a:tcPr>
                    <a:solidFill>
                      <a:srgbClr val="FAFCFE"/>
                    </a:solidFill>
                  </a:tcPr>
                </a:tc>
              </a:tr>
              <a:tr h="373950">
                <a:tc>
                  <a:txBody>
                    <a:bodyPr/>
                    <a:lstStyle/>
                    <a:p>
                      <a:pPr algn="r"/>
                      <a:r>
                        <a:rPr sz="1250">
                          <a:solidFill>
                            <a:srgbClr val="22303F"/>
                          </a:solidFill>
                          <a:latin typeface="Cairo"/>
                          <a:cs typeface="Cairo"/>
                        </a:rPr>
                        <a:t>git pull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>
                          <a:solidFill>
                            <a:srgbClr val="22303F"/>
                          </a:solidFill>
                          <a:latin typeface="Cairo"/>
                          <a:cs typeface="Cairo"/>
                        </a:rPr>
                        <a:t>من GitHub إلى جهازك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250">
                          <a:solidFill>
                            <a:srgbClr val="22303F"/>
                          </a:solidFill>
                          <a:latin typeface="Cairo"/>
                          <a:cs typeface="Cairo"/>
                        </a:rPr>
                        <a:t>استلام تحديثات الزملاء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40000" y="3431700"/>
            <a:ext cx="11112119" cy="556799"/>
          </a:xfrm>
          <a:prstGeom prst="roundRect">
            <a:avLst>
              <a:gd name="adj" fmla="val 6000"/>
            </a:avLst>
          </a:prstGeom>
          <a:solidFill>
            <a:srgbClr val="FFF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5999" y="3539700"/>
            <a:ext cx="10860120" cy="376799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500" b="0">
                <a:solidFill>
                  <a:srgbClr val="8A5A06"/>
                </a:solidFill>
                <a:latin typeface="Cairo"/>
                <a:cs typeface="Cairo"/>
              </a:rPr>
              <a:t>الترتيب الإلزامي: add ← commit ← push. لا يمكن تخطي خطوة.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827999"/>
          </a:xfrm>
          <a:prstGeom prst="rect">
            <a:avLst/>
          </a:prstGeom>
          <a:solidFill>
            <a:srgbClr val="122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62000"/>
            <a:ext cx="8952119" cy="54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2100" b="1">
                <a:solidFill>
                  <a:srgbClr val="FFFFFF"/>
                </a:solidFill>
                <a:latin typeface="Cairo"/>
                <a:cs typeface="Cairo"/>
              </a:rPr>
              <a:t>محطات جلسة اليوم (6 مهام)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216000"/>
            <a:ext cx="11112119" cy="432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 rtl="1">
              <a:lnSpc>
                <a:spcPct val="125000"/>
              </a:lnSpc>
            </a:pPr>
            <a:r>
              <a:rPr sz="1100" b="0">
                <a:solidFill>
                  <a:srgbClr val="9FC0E6"/>
                </a:solidFill>
                <a:latin typeface="Segoe UI"/>
                <a:cs typeface="Segoe UI"/>
              </a:rPr>
              <a:t>الجلسة 01 — التهيئة والتعريف · 7/11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1080000"/>
            <a:ext cx="11112119" cy="220218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700" b="0">
                <a:solidFill>
                  <a:srgbClr val="22303F"/>
                </a:solidFill>
                <a:latin typeface="Cairo"/>
                <a:cs typeface="Cairo"/>
              </a:rPr>
              <a:t>• المهمة 1: تثبيت Git والتحقق منه</a:t>
            </a:r>
          </a:p>
          <a:p>
            <a:pPr algn="r" rtl="1">
              <a:lnSpc>
                <a:spcPct val="130000"/>
              </a:lnSpc>
            </a:pPr>
            <a:r>
              <a:rPr sz="1700" b="0">
                <a:solidFill>
                  <a:srgbClr val="22303F"/>
                </a:solidFill>
                <a:latin typeface="Cairo"/>
                <a:cs typeface="Cairo"/>
              </a:rPr>
              <a:t>• المهمة 2: ضبط الهوية (الاسم والبريد) — أهم خطوة في الورقة</a:t>
            </a:r>
          </a:p>
          <a:p>
            <a:pPr algn="r" rtl="1">
              <a:lnSpc>
                <a:spcPct val="130000"/>
              </a:lnSpc>
            </a:pPr>
            <a:r>
              <a:rPr sz="1700" b="0">
                <a:solidFill>
                  <a:srgbClr val="22303F"/>
                </a:solidFill>
                <a:latin typeface="Cairo"/>
                <a:cs typeface="Cairo"/>
              </a:rPr>
              <a:t>• المهمة 3: إنشاء حساب GitHub مهني + التحقق بخطوتين</a:t>
            </a:r>
          </a:p>
          <a:p>
            <a:pPr algn="r" rtl="1">
              <a:lnSpc>
                <a:spcPct val="130000"/>
              </a:lnSpc>
            </a:pPr>
            <a:r>
              <a:rPr sz="1700" b="0">
                <a:solidFill>
                  <a:srgbClr val="22303F"/>
                </a:solidFill>
                <a:latin typeface="Cairo"/>
                <a:cs typeface="Cairo"/>
              </a:rPr>
              <a:t>• المهمة 4: مفتاح SSH أو رمز وصول شخصي (PAT)</a:t>
            </a:r>
          </a:p>
          <a:p>
            <a:pPr algn="r" rtl="1">
              <a:lnSpc>
                <a:spcPct val="130000"/>
              </a:lnSpc>
            </a:pPr>
            <a:r>
              <a:rPr sz="1700" b="0">
                <a:solidFill>
                  <a:srgbClr val="22303F"/>
                </a:solidFill>
                <a:latin typeface="Cairo"/>
                <a:cs typeface="Cairo"/>
              </a:rPr>
              <a:t>• المهمة 5: تجهيز VS Code والطرفية</a:t>
            </a:r>
          </a:p>
          <a:p>
            <a:pPr algn="r" rtl="1">
              <a:lnSpc>
                <a:spcPct val="130000"/>
              </a:lnSpc>
            </a:pPr>
            <a:r>
              <a:rPr sz="1700" b="0">
                <a:solidFill>
                  <a:srgbClr val="22303F"/>
                </a:solidFill>
                <a:latin typeface="Cairo"/>
                <a:cs typeface="Cairo"/>
              </a:rPr>
              <a:t>• المهمة 6: أول مستودع شخصي: clone ثم commit ثم push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0000" y="3390180"/>
            <a:ext cx="11112119" cy="556799"/>
          </a:xfrm>
          <a:prstGeom prst="roundRect">
            <a:avLst>
              <a:gd name="adj" fmla="val 6000"/>
            </a:avLst>
          </a:prstGeom>
          <a:solidFill>
            <a:srgbClr val="F7F4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5999" y="3498180"/>
            <a:ext cx="10860120" cy="376799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500" b="0">
                <a:solidFill>
                  <a:srgbClr val="4B2683"/>
                </a:solidFill>
                <a:latin typeface="Cairo"/>
                <a:cs typeface="Cairo"/>
              </a:rPr>
              <a:t>القاعدة الذهبية: اكتب الأوامر بيدك، ولا تخف من الخطأ — كل خطأ هنا يمكن التراجع عنه.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827999"/>
          </a:xfrm>
          <a:prstGeom prst="rect">
            <a:avLst/>
          </a:prstGeom>
          <a:solidFill>
            <a:srgbClr val="122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62000"/>
            <a:ext cx="8952119" cy="54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2100" b="1">
                <a:solidFill>
                  <a:srgbClr val="FFFFFF"/>
                </a:solidFill>
                <a:latin typeface="Cairo"/>
                <a:cs typeface="Cairo"/>
              </a:rPr>
              <a:t>المهمة 2 — لا تخطئ في هذا الأمر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216000"/>
            <a:ext cx="11112119" cy="432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 rtl="1">
              <a:lnSpc>
                <a:spcPct val="125000"/>
              </a:lnSpc>
            </a:pPr>
            <a:r>
              <a:rPr sz="1100" b="0">
                <a:solidFill>
                  <a:srgbClr val="9FC0E6"/>
                </a:solidFill>
                <a:latin typeface="Segoe UI"/>
                <a:cs typeface="Segoe UI"/>
              </a:rPr>
              <a:t>الجلسة 01 — التهيئة والتعريف · 8/11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0000" y="1080000"/>
            <a:ext cx="11112119" cy="138362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0000" y="1260000"/>
            <a:ext cx="10752119" cy="10236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lnSpc>
                <a:spcPct val="115000"/>
              </a:lnSpc>
            </a:pPr>
            <a:r>
              <a:rPr sz="1300">
                <a:solidFill>
                  <a:srgbClr val="7FD1A8"/>
                </a:solidFill>
                <a:latin typeface="Consolas"/>
              </a:rPr>
              <a:t>$ git config --global user.name "سارة الحسن"</a:t>
            </a:r>
          </a:p>
          <a:p>
            <a:pPr algn="l" rtl="0">
              <a:lnSpc>
                <a:spcPct val="115000"/>
              </a:lnSpc>
            </a:pPr>
            <a:r>
              <a:rPr sz="1300">
                <a:solidFill>
                  <a:srgbClr val="7FD1A8"/>
                </a:solidFill>
                <a:latin typeface="Consolas"/>
              </a:rPr>
              <a:t>$ git config --global user.email "sara@example.com"</a:t>
            </a:r>
          </a:p>
          <a:p>
            <a:pPr algn="l" rtl="0">
              <a:lnSpc>
                <a:spcPct val="115000"/>
              </a:lnSpc>
            </a:pPr>
            <a:r>
              <a:rPr sz="1300">
                <a:solidFill>
                  <a:srgbClr val="7FD1A8"/>
                </a:solidFill>
                <a:latin typeface="Consolas"/>
              </a:rPr>
              <a:t>$ git config --global init.defaultBranch main</a:t>
            </a:r>
          </a:p>
          <a:p>
            <a:pPr algn="l" rtl="0">
              <a:lnSpc>
                <a:spcPct val="115000"/>
              </a:lnSpc>
            </a:pPr>
            <a:r>
              <a:rPr sz="1300">
                <a:solidFill>
                  <a:srgbClr val="7FD1A8"/>
                </a:solidFill>
                <a:latin typeface="Consolas"/>
              </a:rPr>
              <a:t>$ git config --global pull.rebase true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0000" y="2571620"/>
            <a:ext cx="11112119" cy="556799"/>
          </a:xfrm>
          <a:prstGeom prst="roundRect">
            <a:avLst>
              <a:gd name="adj" fmla="val 6000"/>
            </a:avLst>
          </a:prstGeom>
          <a:solidFill>
            <a:srgbClr val="FDEC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5999" y="2679620"/>
            <a:ext cx="10860120" cy="376799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500" b="0">
                <a:solidFill>
                  <a:srgbClr val="8C1D17"/>
                </a:solidFill>
                <a:latin typeface="Cairo"/>
                <a:cs typeface="Cairo"/>
              </a:rPr>
              <a:t>استخدم نفس البريد المسجَّل في حساب GitHub. إن اختلف البريد، لن يرتبط التزامك بحسابك وقد يظهر باسم غريب بلا صورة.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827999"/>
          </a:xfrm>
          <a:prstGeom prst="rect">
            <a:avLst/>
          </a:prstGeom>
          <a:solidFill>
            <a:srgbClr val="122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62000"/>
            <a:ext cx="8952119" cy="54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2100" b="1">
                <a:solidFill>
                  <a:srgbClr val="FFFFFF"/>
                </a:solidFill>
                <a:latin typeface="Cairo"/>
                <a:cs typeface="Cairo"/>
              </a:rPr>
              <a:t>المهمة 6 — الدورة الكاملة بنفسك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216000"/>
            <a:ext cx="11112119" cy="432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 rtl="1">
              <a:lnSpc>
                <a:spcPct val="125000"/>
              </a:lnSpc>
            </a:pPr>
            <a:r>
              <a:rPr sz="1100" b="0">
                <a:solidFill>
                  <a:srgbClr val="9FC0E6"/>
                </a:solidFill>
                <a:latin typeface="Segoe UI"/>
                <a:cs typeface="Segoe UI"/>
              </a:rPr>
              <a:t>الجلسة 01 — التهيئة والتعريف · 9/11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0000" y="1080000"/>
            <a:ext cx="11112119" cy="2958420"/>
          </a:xfrm>
          <a:prstGeom prst="roundRect">
            <a:avLst>
              <a:gd name="adj" fmla="val 6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0000" y="1260000"/>
            <a:ext cx="10752119" cy="2598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lnSpc>
                <a:spcPct val="115000"/>
              </a:lnSpc>
            </a:pPr>
            <a:r>
              <a:rPr sz="1100">
                <a:solidFill>
                  <a:srgbClr val="7FD1A8"/>
                </a:solidFill>
                <a:latin typeface="Consolas"/>
              </a:rPr>
              <a:t>$ cd ~/projects</a:t>
            </a:r>
          </a:p>
          <a:p>
            <a:pPr algn="l" rtl="0">
              <a:lnSpc>
                <a:spcPct val="115000"/>
              </a:lnSpc>
            </a:pPr>
            <a:r>
              <a:rPr sz="1100">
                <a:solidFill>
                  <a:srgbClr val="7FD1A8"/>
                </a:solidFill>
                <a:latin typeface="Consolas"/>
              </a:rPr>
              <a:t>$ git clone https://github.com/&lt;user&gt;/git-practice-&lt;user&gt;.git</a:t>
            </a:r>
          </a:p>
          <a:p>
            <a:pPr algn="l" rtl="0">
              <a:lnSpc>
                <a:spcPct val="115000"/>
              </a:lnSpc>
            </a:pPr>
            <a:r>
              <a:rPr sz="1100">
                <a:solidFill>
                  <a:srgbClr val="7FD1A8"/>
                </a:solidFill>
                <a:latin typeface="Consolas"/>
              </a:rPr>
              <a:t>$ cd git-practice-&lt;user&gt;</a:t>
            </a:r>
          </a:p>
          <a:p>
            <a:pPr algn="l" rtl="0">
              <a:lnSpc>
                <a:spcPct val="115000"/>
              </a:lnSpc>
            </a:pPr>
            <a:r>
              <a:rPr sz="1100">
                <a:solidFill>
                  <a:srgbClr val="E6EDF7"/>
                </a:solidFill>
                <a:latin typeface="Consolas"/>
              </a:rPr>
              <a:t/>
            </a:r>
          </a:p>
          <a:p>
            <a:pPr algn="l" rtl="0">
              <a:lnSpc>
                <a:spcPct val="115000"/>
              </a:lnSpc>
            </a:pPr>
            <a:r>
              <a:rPr sz="1100">
                <a:solidFill>
                  <a:srgbClr val="7D8CA3"/>
                </a:solidFill>
                <a:latin typeface="Consolas"/>
              </a:rPr>
              <a:t># عدّل README.md ثم:</a:t>
            </a:r>
          </a:p>
          <a:p>
            <a:pPr algn="l" rtl="0">
              <a:lnSpc>
                <a:spcPct val="115000"/>
              </a:lnSpc>
            </a:pPr>
            <a:r>
              <a:rPr sz="1100">
                <a:solidFill>
                  <a:srgbClr val="7FD1A8"/>
                </a:solidFill>
                <a:latin typeface="Consolas"/>
              </a:rPr>
              <a:t>$ git status                 # ماذا تغيّر؟</a:t>
            </a:r>
          </a:p>
          <a:p>
            <a:pPr algn="l" rtl="0">
              <a:lnSpc>
                <a:spcPct val="115000"/>
              </a:lnSpc>
            </a:pPr>
            <a:r>
              <a:rPr sz="1100">
                <a:solidFill>
                  <a:srgbClr val="7FD1A8"/>
                </a:solidFill>
                <a:latin typeface="Consolas"/>
              </a:rPr>
              <a:t>$ git add README.md</a:t>
            </a:r>
          </a:p>
          <a:p>
            <a:pPr algn="l" rtl="0">
              <a:lnSpc>
                <a:spcPct val="115000"/>
              </a:lnSpc>
            </a:pPr>
            <a:r>
              <a:rPr sz="1100">
                <a:solidFill>
                  <a:srgbClr val="7FD1A8"/>
                </a:solidFill>
                <a:latin typeface="Consolas"/>
              </a:rPr>
              <a:t>$ git commit -m "docs(readme): add a short personal introduction"</a:t>
            </a:r>
          </a:p>
          <a:p>
            <a:pPr algn="l" rtl="0">
              <a:lnSpc>
                <a:spcPct val="115000"/>
              </a:lnSpc>
            </a:pPr>
            <a:r>
              <a:rPr sz="1100">
                <a:solidFill>
                  <a:srgbClr val="7FD1A8"/>
                </a:solidFill>
                <a:latin typeface="Consolas"/>
              </a:rPr>
              <a:t>$ git push</a:t>
            </a:r>
          </a:p>
          <a:p>
            <a:pPr algn="l" rtl="0">
              <a:lnSpc>
                <a:spcPct val="115000"/>
              </a:lnSpc>
            </a:pPr>
            <a:r>
              <a:rPr sz="1100">
                <a:solidFill>
                  <a:srgbClr val="7FD1A8"/>
                </a:solidFill>
                <a:latin typeface="Consolas"/>
              </a:rPr>
              <a:t>$ git log --oneline</a:t>
            </a:r>
          </a:p>
          <a:p>
            <a:pPr algn="l" rtl="0">
              <a:lnSpc>
                <a:spcPct val="115000"/>
              </a:lnSpc>
            </a:pPr>
            <a:r>
              <a:rPr sz="1100">
                <a:solidFill>
                  <a:srgbClr val="E6EDF7"/>
                </a:solidFill>
                <a:latin typeface="Consolas"/>
              </a:rPr>
              <a:t>3f1a9c2 (HEAD -&gt; main, origin/main) docs(readme): add a short personal introduction</a:t>
            </a:r>
          </a:p>
          <a:p>
            <a:pPr algn="l" rtl="0">
              <a:lnSpc>
                <a:spcPct val="115000"/>
              </a:lnSpc>
            </a:pPr>
            <a:r>
              <a:rPr sz="1100">
                <a:solidFill>
                  <a:srgbClr val="E6EDF7"/>
                </a:solidFill>
                <a:latin typeface="Consolas"/>
              </a:rPr>
              <a:t>9d4b1a7 Initial commit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827999"/>
          </a:xfrm>
          <a:prstGeom prst="rect">
            <a:avLst/>
          </a:prstGeom>
          <a:solidFill>
            <a:srgbClr val="122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62000"/>
            <a:ext cx="8952119" cy="54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2100" b="1">
                <a:solidFill>
                  <a:srgbClr val="FFFFFF"/>
                </a:solidFill>
                <a:latin typeface="Cairo"/>
                <a:cs typeface="Cairo"/>
              </a:rPr>
              <a:t>ما معنى «دليل» في هذه الورشة؟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216000"/>
            <a:ext cx="11112119" cy="432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 rtl="1">
              <a:lnSpc>
                <a:spcPct val="125000"/>
              </a:lnSpc>
            </a:pPr>
            <a:r>
              <a:rPr sz="1100" b="0">
                <a:solidFill>
                  <a:srgbClr val="9FC0E6"/>
                </a:solidFill>
                <a:latin typeface="Segoe UI"/>
                <a:cs typeface="Segoe UI"/>
              </a:rPr>
              <a:t>الجلسة 01 — التهيئة والتعريف · 10/11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1080000"/>
            <a:ext cx="11112119" cy="146812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700" b="0">
                <a:solidFill>
                  <a:srgbClr val="22303F"/>
                </a:solidFill>
                <a:latin typeface="Cairo"/>
                <a:cs typeface="Cairo"/>
              </a:rPr>
              <a:t>• لا نقيّم ما تقوله، بل ما تُنتجه: مخرجات أوامرك الحقيقية من جهازك</a:t>
            </a:r>
          </a:p>
          <a:p>
            <a:pPr algn="r" rtl="1">
              <a:lnSpc>
                <a:spcPct val="130000"/>
              </a:lnSpc>
            </a:pPr>
            <a:r>
              <a:rPr sz="1700" b="0">
                <a:solidFill>
                  <a:srgbClr val="22303F"/>
                </a:solidFill>
                <a:latin typeface="Cairo"/>
                <a:cs typeface="Cairo"/>
              </a:rPr>
              <a:t>• كل مهمة فيها صندوق «دليل التسليم» تلصق فيه المخرجات</a:t>
            </a:r>
          </a:p>
          <a:p>
            <a:pPr algn="r" rtl="1">
              <a:lnSpc>
                <a:spcPct val="130000"/>
              </a:lnSpc>
            </a:pPr>
            <a:r>
              <a:rPr sz="1700" b="0">
                <a:solidFill>
                  <a:srgbClr val="22303F"/>
                </a:solidFill>
                <a:latin typeface="Cairo"/>
                <a:cs typeface="Cairo"/>
              </a:rPr>
              <a:t>• الأدلة المنسوخة من الورقة تُرفض — نعرفها من رقم الإصدار وأسماء الملفات</a:t>
            </a:r>
          </a:p>
          <a:p>
            <a:pPr algn="r" rtl="1">
              <a:lnSpc>
                <a:spcPct val="130000"/>
              </a:lnSpc>
            </a:pPr>
            <a:r>
              <a:rPr sz="1700" b="0">
                <a:solidFill>
                  <a:srgbClr val="22303F"/>
                </a:solidFill>
                <a:latin typeface="Cairo"/>
                <a:cs typeface="Cairo"/>
              </a:rPr>
              <a:t>• إتقان الأمر أهم من سرعة إنجازه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0000" y="2656120"/>
            <a:ext cx="11112119" cy="556799"/>
          </a:xfrm>
          <a:prstGeom prst="roundRect">
            <a:avLst>
              <a:gd name="adj" fmla="val 6000"/>
            </a:avLst>
          </a:prstGeom>
          <a:solidFill>
            <a:srgbClr val="E7F7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5999" y="2764120"/>
            <a:ext cx="10860120" cy="376799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500" b="0">
                <a:solidFill>
                  <a:srgbClr val="0B6244"/>
                </a:solidFill>
                <a:latin typeface="Cairo"/>
                <a:cs typeface="Cairo"/>
              </a:rPr>
              <a:t>معيار إتمام اليوم: حساب مؤمَّن بـ 2FA + Git مهيّأ بالبريد الصحيح + مستودع شخصي فيه التزامك الأول.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827999"/>
          </a:xfrm>
          <a:prstGeom prst="rect">
            <a:avLst/>
          </a:prstGeom>
          <a:solidFill>
            <a:srgbClr val="122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162000"/>
            <a:ext cx="8952119" cy="540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2100" b="1">
                <a:solidFill>
                  <a:srgbClr val="FFFFFF"/>
                </a:solidFill>
                <a:latin typeface="Cairo"/>
                <a:cs typeface="Cairo"/>
              </a:rPr>
              <a:t>قبل أن ننتهي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216000"/>
            <a:ext cx="11112119" cy="432000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l" rtl="1">
              <a:lnSpc>
                <a:spcPct val="125000"/>
              </a:lnSpc>
            </a:pPr>
            <a:r>
              <a:rPr sz="1100" b="0">
                <a:solidFill>
                  <a:srgbClr val="9FC0E6"/>
                </a:solidFill>
                <a:latin typeface="Segoe UI"/>
                <a:cs typeface="Segoe UI"/>
              </a:rPr>
              <a:t>الجلسة 01 — التهيئة والتعريف · 11/11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1080000"/>
            <a:ext cx="11112119" cy="1468120"/>
          </a:xfrm>
          <a:prstGeom prst="rect">
            <a:avLst/>
          </a:prstGeom>
          <a:noFill/>
        </p:spPr>
        <p:txBody>
          <a:bodyPr wrap="square" lIns="36000" rIns="36000">
            <a:spAutoFit/>
          </a:bodyPr>
          <a:lstStyle/>
          <a:p>
            <a:pPr algn="r" rtl="1">
              <a:lnSpc>
                <a:spcPct val="130000"/>
              </a:lnSpc>
            </a:pPr>
            <a:r>
              <a:rPr sz="1700" b="0">
                <a:solidFill>
                  <a:srgbClr val="22303F"/>
                </a:solidFill>
                <a:latin typeface="Cairo"/>
                <a:cs typeface="Cairo"/>
              </a:rPr>
              <a:t>• أكملت المهام 1–6 وملأت الأدلة في ورقة العمل 01</a:t>
            </a:r>
          </a:p>
          <a:p>
            <a:pPr algn="r" rtl="1">
              <a:lnSpc>
                <a:spcPct val="130000"/>
              </a:lnSpc>
            </a:pPr>
            <a:r>
              <a:rPr sz="1700" b="0">
                <a:solidFill>
                  <a:srgbClr val="22303F"/>
                </a:solidFill>
                <a:latin typeface="Cairo"/>
                <a:cs typeface="Cairo"/>
              </a:rPr>
              <a:t>• تأكد: </a:t>
            </a:r>
            <a:r>
              <a:rPr sz="1700" b="0">
                <a:solidFill>
                  <a:srgbClr val="22303F"/>
                </a:solidFill>
                <a:latin typeface="Consolas"/>
                <a:cs typeface="Consolas"/>
              </a:rPr>
              <a:t>git config --list</a:t>
            </a:r>
            <a:r>
              <a:rPr sz="1700" b="0">
                <a:solidFill>
                  <a:srgbClr val="22303F"/>
                </a:solidFill>
                <a:latin typeface="Cairo"/>
                <a:cs typeface="Cairo"/>
              </a:rPr>
              <a:t> يُظهر بريدك الصحيح</a:t>
            </a:r>
          </a:p>
          <a:p>
            <a:pPr algn="r" rtl="1">
              <a:lnSpc>
                <a:spcPct val="130000"/>
              </a:lnSpc>
            </a:pPr>
            <a:r>
              <a:rPr sz="1700" b="0">
                <a:solidFill>
                  <a:srgbClr val="22303F"/>
                </a:solidFill>
                <a:latin typeface="Cairo"/>
                <a:cs typeface="Cairo"/>
              </a:rPr>
              <a:t>• تأكد: </a:t>
            </a:r>
            <a:r>
              <a:rPr sz="1700" b="0">
                <a:solidFill>
                  <a:srgbClr val="22303F"/>
                </a:solidFill>
                <a:latin typeface="Consolas"/>
                <a:cs typeface="Consolas"/>
              </a:rPr>
              <a:t>git log --oneline</a:t>
            </a:r>
            <a:r>
              <a:rPr sz="1700" b="0">
                <a:solidFill>
                  <a:srgbClr val="22303F"/>
                </a:solidFill>
                <a:latin typeface="Cairo"/>
                <a:cs typeface="Cairo"/>
              </a:rPr>
              <a:t> في مستودعك يُظهر التزامك</a:t>
            </a:r>
          </a:p>
          <a:p>
            <a:pPr algn="r" rtl="1">
              <a:lnSpc>
                <a:spcPct val="130000"/>
              </a:lnSpc>
            </a:pPr>
            <a:r>
              <a:rPr sz="1700" b="0">
                <a:solidFill>
                  <a:srgbClr val="22303F"/>
                </a:solidFill>
                <a:latin typeface="Cairo"/>
                <a:cs typeface="Cairo"/>
              </a:rPr>
              <a:t>• الجلسة القادمة: سنستنسخ </a:t>
            </a:r>
            <a:r>
              <a:rPr sz="1700" b="1">
                <a:solidFill>
                  <a:srgbClr val="22303F"/>
                </a:solidFill>
                <a:latin typeface="Cairo"/>
                <a:cs typeface="Cairo"/>
              </a:rPr>
              <a:t>مستودع الفريق</a:t>
            </a:r>
            <a:r>
              <a:rPr sz="1700" b="0">
                <a:solidFill>
                  <a:srgbClr val="22303F"/>
                </a:solidFill>
                <a:latin typeface="Cairo"/>
                <a:cs typeface="Cairo"/>
              </a:rPr>
              <a:t> ونشغّل الموقع على أجهزتنا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0000" y="2656120"/>
            <a:ext cx="11112119" cy="556799"/>
          </a:xfrm>
          <a:prstGeom prst="roundRect">
            <a:avLst>
              <a:gd name="adj" fmla="val 6000"/>
            </a:avLst>
          </a:prstGeom>
          <a:solidFill>
            <a:srgbClr val="E6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5999" y="2764120"/>
            <a:ext cx="10860120" cy="376799"/>
          </a:xfrm>
          <a:prstGeom prst="rect">
            <a:avLst/>
          </a:prstGeom>
          <a:noFill/>
        </p:spPr>
        <p:txBody>
          <a:bodyPr wrap="square" anchor="t" lIns="36000" rIns="36000" tIns="18000" bIns="18000">
            <a:spAutoFit/>
          </a:bodyPr>
          <a:lstStyle/>
          <a:p>
            <a:pPr algn="r" rtl="1">
              <a:lnSpc>
                <a:spcPct val="125000"/>
              </a:lnSpc>
            </a:pPr>
            <a:r>
              <a:rPr sz="1500" b="0">
                <a:solidFill>
                  <a:srgbClr val="0A5D5C"/>
                </a:solidFill>
                <a:latin typeface="Cairo"/>
                <a:cs typeface="Cairo"/>
              </a:rPr>
              <a:t>سؤال الليلة: لماذا لا يكفي </a:t>
            </a:r>
            <a:r>
              <a:rPr sz="1500" b="0">
                <a:solidFill>
                  <a:srgbClr val="0A5D5C"/>
                </a:solidFill>
                <a:latin typeface="Consolas"/>
                <a:cs typeface="Consolas"/>
              </a:rPr>
              <a:t>git add</a:t>
            </a:r>
            <a:r>
              <a:rPr sz="1500" b="0">
                <a:solidFill>
                  <a:srgbClr val="0A5D5C"/>
                </a:solidFill>
                <a:latin typeface="Cairo"/>
                <a:cs typeface="Cairo"/>
              </a:rPr>
              <a:t> وحدها لرفع عملك إلى GitHub؟ ستجد الجواب في أول دقيقة من الجلسة القادمة.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